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405" r:id="rId3"/>
    <p:sldId id="393" r:id="rId4"/>
    <p:sldId id="2147483634" r:id="rId5"/>
    <p:sldId id="2147483642" r:id="rId6"/>
    <p:sldId id="406" r:id="rId7"/>
    <p:sldId id="2147483635" r:id="rId8"/>
    <p:sldId id="408" r:id="rId9"/>
    <p:sldId id="409" r:id="rId10"/>
    <p:sldId id="410" r:id="rId11"/>
    <p:sldId id="39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 varScale="1">
        <p:scale>
          <a:sx n="79" d="100"/>
          <a:sy n="79" d="100"/>
        </p:scale>
        <p:origin x="561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9614D3-5AAD-4AF0-BE94-5E76AD9E071C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448BF-9CAB-4101-B764-BB27C835D2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2389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3DF82-2C6C-7223-BA28-84F1579AD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D287D-69CB-B06E-FABF-96C111103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C2BDBE-6B4D-0F3C-CC8D-D4A2139D5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Opening spiel about teams who talk and feedback and how they become high-performing teams</a:t>
            </a:r>
          </a:p>
          <a:p>
            <a:endParaRPr lang="en-GB"/>
          </a:p>
          <a:p>
            <a:r>
              <a:rPr lang="en-GB"/>
              <a:t>Explain that this is designed to feel a little forced, but can help to aid rules around team discussion and feedback.  Rules of the Fish on the Table: whoever holds it speaks; others listen; one short follow‑up allowed; no cross‑talk.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B68A6-3982-745B-B19A-0410CB8CDA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Hanken Grotesk"/>
                <a:buNone/>
                <a:tabLst/>
                <a:defRPr/>
              </a:pPr>
              <a:t>3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  <p:extLst>
      <p:ext uri="{BB962C8B-B14F-4D97-AF65-F5344CB8AC3E}">
        <p14:creationId xmlns:p14="http://schemas.microsoft.com/office/powerpoint/2010/main" val="1284763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5D93E-E2E0-0427-84B6-CDBF1FAA9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1F4DD9-F2EC-1463-D729-81BA7D841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F4E957-3A0E-554C-7158-2BA86BEEB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Opening spiel about teams who talk and feedback and how they become high-performing teams</a:t>
            </a:r>
          </a:p>
          <a:p>
            <a:endParaRPr lang="en-GB"/>
          </a:p>
          <a:p>
            <a:r>
              <a:rPr lang="en-GB"/>
              <a:t>Explain that this is designed to feel a little forced, but can help to aid rules around team discussion and feedback.  Rules of the Fish on the Table: whoever holds it speaks; others listen; one short follow‑up allowed; no cross‑talk.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C3C91-1CE4-16CE-169D-1740C08ABA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Hanken Grotesk"/>
                <a:buNone/>
                <a:tabLst/>
                <a:defRPr/>
              </a:pPr>
              <a:t>4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095306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ADAB9-1F96-5E22-60ED-FD5F95979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A11996-05D4-743E-FCCF-0574A12CB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1BFBF-2597-8FD9-16F5-5F2A382EB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Opening spiel about teams who talk and feedback and how they become high-performing teams</a:t>
            </a:r>
          </a:p>
          <a:p>
            <a:endParaRPr lang="en-GB"/>
          </a:p>
          <a:p>
            <a:r>
              <a:rPr lang="en-GB"/>
              <a:t>Explain that this is designed to feel a little forced, but can help to aid rules around team discussion and feedback.  Rules of the Fish on the Table: whoever holds it speaks; others listen; one short follow‑up allowed; no cross‑talk.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EAB42-B0AA-A634-81CB-FD94F0EC60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Hanken Grotesk"/>
                <a:buNone/>
                <a:tabLst/>
                <a:defRPr/>
              </a:pPr>
              <a:t>5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  <p:extLst>
      <p:ext uri="{BB962C8B-B14F-4D97-AF65-F5344CB8AC3E}">
        <p14:creationId xmlns:p14="http://schemas.microsoft.com/office/powerpoint/2010/main" val="752172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783F0-A8B7-0A4A-7AD3-6696706A6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95604-C6F4-DBDD-CE95-6BEAD42D3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8BCE5D-B3A0-143F-97A0-8722C3A99A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Opening spiel about teams who talk and feedback and how they become high-performing teams</a:t>
            </a:r>
          </a:p>
          <a:p>
            <a:endParaRPr lang="en-GB"/>
          </a:p>
          <a:p>
            <a:r>
              <a:rPr lang="en-GB"/>
              <a:t>Explain that this is designed to feel a little forced, but can help to aid rules around team discussion and feedback.  Rules of the Fish on the Table: whoever holds it speaks; others listen; one short follow‑up allowed; no cross‑talk.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0033E-D332-4B2F-B015-FF87F06170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Hanken Grotesk"/>
                <a:buNone/>
                <a:tabLst/>
                <a:defRPr/>
              </a:pPr>
              <a:t>6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  <p:extLst>
      <p:ext uri="{BB962C8B-B14F-4D97-AF65-F5344CB8AC3E}">
        <p14:creationId xmlns:p14="http://schemas.microsoft.com/office/powerpoint/2010/main" val="4114385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>
          <a:extLst>
            <a:ext uri="{FF2B5EF4-FFF2-40B4-BE49-F238E27FC236}">
              <a16:creationId xmlns:a16="http://schemas.microsoft.com/office/drawing/2014/main" id="{C5C89BEC-06B7-747D-FE59-17D2AAFAC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7:notes">
            <a:extLst>
              <a:ext uri="{FF2B5EF4-FFF2-40B4-BE49-F238E27FC236}">
                <a16:creationId xmlns:a16="http://schemas.microsoft.com/office/drawing/2014/main" id="{6D556CC8-D2F0-39C0-1EA4-78A681C2CA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0910" y="3356131"/>
            <a:ext cx="7447280" cy="27459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17:notes">
            <a:extLst>
              <a:ext uri="{FF2B5EF4-FFF2-40B4-BE49-F238E27FC236}">
                <a16:creationId xmlns:a16="http://schemas.microsoft.com/office/drawing/2014/main" id="{DAE2A608-1C0E-5973-E24D-7373D5B14A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62225" y="871538"/>
            <a:ext cx="4184650" cy="23542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60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8:notes"/>
          <p:cNvSpPr txBox="1">
            <a:spLocks noGrp="1"/>
          </p:cNvSpPr>
          <p:nvPr>
            <p:ph type="body" idx="1"/>
          </p:nvPr>
        </p:nvSpPr>
        <p:spPr>
          <a:xfrm>
            <a:off x="930910" y="3356131"/>
            <a:ext cx="7447280" cy="27459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62225" y="871538"/>
            <a:ext cx="4184650" cy="23542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19:notes"/>
          <p:cNvSpPr txBox="1">
            <a:spLocks noGrp="1"/>
          </p:cNvSpPr>
          <p:nvPr>
            <p:ph type="body" idx="1"/>
          </p:nvPr>
        </p:nvSpPr>
        <p:spPr>
          <a:xfrm>
            <a:off x="930910" y="3356131"/>
            <a:ext cx="7447280" cy="27459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62225" y="871538"/>
            <a:ext cx="4184650" cy="23542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>
          <a:extLst>
            <a:ext uri="{FF2B5EF4-FFF2-40B4-BE49-F238E27FC236}">
              <a16:creationId xmlns:a16="http://schemas.microsoft.com/office/drawing/2014/main" id="{121AD176-2913-4C5D-B198-3E9CC52AE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:notes">
            <a:extLst>
              <a:ext uri="{FF2B5EF4-FFF2-40B4-BE49-F238E27FC236}">
                <a16:creationId xmlns:a16="http://schemas.microsoft.com/office/drawing/2014/main" id="{6A28D314-1960-BF2D-A687-A0AA5EF53B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752698"/>
            <a:ext cx="5486400" cy="388885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4:notes">
            <a:extLst>
              <a:ext uri="{FF2B5EF4-FFF2-40B4-BE49-F238E27FC236}">
                <a16:creationId xmlns:a16="http://schemas.microsoft.com/office/drawing/2014/main" id="{8093484E-CD6F-5041-85DD-AEB6964FA9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65138" y="1235075"/>
            <a:ext cx="5927725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2979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15498-4C38-E901-DD0E-99F6A3BFF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11C90-0258-5624-85A1-BD084483A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DFC60-3E6D-00DD-59DE-F140A7519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56F4-BDFE-44AA-AD96-62A50B2A8289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18798-6BCB-E3CB-6347-0BE2E7799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76EDE-3653-3EBA-C07C-A1D17A0AB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7443F-3C35-46D2-AFA0-7383555CA4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493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B7D8E-C3D0-E5BD-45FE-E4931AF7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4A339-2ECA-4413-49EA-EB9E3B58F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381CD-E225-DA33-4595-8641EFEB0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56F4-BDFE-44AA-AD96-62A50B2A8289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9E536-9E3D-971A-84C1-7D337912E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EEF24-0C44-0CAB-21FE-A581560E2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7443F-3C35-46D2-AFA0-7383555CA4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136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78108-E4F3-4843-B747-F85BD9EA6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F5229-DF84-16C5-4856-FA09A631B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C0E99-B7C7-A75E-FBE6-5065FD58A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56F4-BDFE-44AA-AD96-62A50B2A8289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44F34-12C1-9FC0-8EC7-D87BEF893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42E13-EFD1-5A51-B0EC-F3093024D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7443F-3C35-46D2-AFA0-7383555CA4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710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2B804-9227-EFCE-8843-6303D5B40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800F7-1D89-0423-354C-C7A3258BA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97F7B-DB48-D462-4D49-7E2EBD5C5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B1A12-2D5A-D7F1-69FF-91462B398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56F4-BDFE-44AA-AD96-62A50B2A8289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29A22-9471-DFBD-16AE-6EFE8B3A0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38D2A-6AF3-3CE6-D5AF-0A2F11933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7443F-3C35-46D2-AFA0-7383555CA4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4694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70441-F037-AAFA-35E1-C3B06C0F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86BBF-213A-D822-BEA2-5A8897F52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1C0C3A-9283-802C-948F-E6FF24D84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AF99D9-C011-884C-EBF0-3AEDAD8EAF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B8858D-CAA4-A803-23F7-AFB8381CB5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610D46-1546-2BDA-178A-03C519CEC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56F4-BDFE-44AA-AD96-62A50B2A8289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7913E3-2DE5-7F97-AB46-EEFEADC9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7F5480-F2B2-AF7D-B03B-C496C4EC4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7443F-3C35-46D2-AFA0-7383555CA4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103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E764C-320A-0E97-126C-0D6DDCBCB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6B370B-4B3C-44A9-BEB7-A06F3383D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56F4-BDFE-44AA-AD96-62A50B2A8289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894786-1B9C-F937-2703-9FC2071C1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CFEBFE-5CBD-5FE0-2B0A-8296C53BA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7443F-3C35-46D2-AFA0-7383555CA4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3926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687EDB-214B-7689-9E1E-C717B22BB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56F4-BDFE-44AA-AD96-62A50B2A8289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5AFD97-3187-58F1-EAA9-51B9ABC8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69531-3C0F-BF44-8E78-8434F3E72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7443F-3C35-46D2-AFA0-7383555CA4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67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20A5E-6FE4-4229-D81A-79346D775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43418-AAE8-ABC2-B8E1-8D2AAF715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8AD05E-719E-114E-7499-25DC864C3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A6B9A-C50B-32A6-A9E8-0D9A6DBED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56F4-BDFE-44AA-AD96-62A50B2A8289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D66D7-C0AA-488C-DBA9-7EA2F6E36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F1C11-AE8E-A1EB-20C6-17815DAD8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7443F-3C35-46D2-AFA0-7383555CA4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65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2C074-1CFD-1FCE-C30D-514D20F04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FB3727-4EFD-B806-051B-53D415B70D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A0A09-38FA-0481-90FE-57FB5566BC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F04281-3627-772D-E085-3D0A3A844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56F4-BDFE-44AA-AD96-62A50B2A8289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EA2C8-1882-4B56-3F34-B8CD8FA55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2696C-B4C3-B876-20AB-739B526F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7443F-3C35-46D2-AFA0-7383555CA4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694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6646D-1611-EDB3-7ABA-7B4A61A0D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B4F1C4-B463-52AD-B944-D4CC303F9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E6323-4222-9877-4823-B2E4DE1E1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56F4-BDFE-44AA-AD96-62A50B2A8289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F213C-38AA-E274-115A-BEE08181D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07BB8-CA02-F4A7-7382-887B0E16F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7443F-3C35-46D2-AFA0-7383555CA4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035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A2D0B1-7C59-C895-7F2B-CD6A15FCB1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547BB7-61FC-98D5-192D-B6BA14BF3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D6F45-EB77-37F9-7205-1CE120371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56F4-BDFE-44AA-AD96-62A50B2A8289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81D6B-EF47-CC13-CAA9-F9FE92E69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8DFD1-85D3-69CB-8761-4B35AC60A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7443F-3C35-46D2-AFA0-7383555CA4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0352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14D3F-14BD-1040-8A81-A75FE65A7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sp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8A45D60-3196-6042-836D-45547787D11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6027" y="1412875"/>
            <a:ext cx="11339946" cy="4695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2222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ulleted">
  <p:cSld name="2_Bulleted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426027" y="259160"/>
            <a:ext cx="11339946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36000" bIns="4570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>
            <a:off x="426027" y="1412875"/>
            <a:ext cx="11339946" cy="469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360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2614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1B7E3A-E455-2CA1-378C-2CD98ACD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B6F1A-A686-1A47-6ED5-E67A0AD20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596C3-37D6-E28C-1014-27978954D1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4556F4-BDFE-44AA-AD96-62A50B2A8289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AAF8F-AAE4-3757-0763-526A19F5F4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2087A-5A3D-CD5D-9667-CC867BA29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07443F-3C35-46D2-AFA0-7383555CA4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32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Hanken Grotesk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Hanken Grotesk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Hanken Grotes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Hanken Grotes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Hanken Grotes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Hanken Grotes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Hanken Grotes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Hanken Grotes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Hanken Grotes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11" Type="http://schemas.openxmlformats.org/officeDocument/2006/relationships/image" Target="../media/image3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4B1E2-26AF-6769-ABA9-5CE26871C5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934087-3315-64CE-DBB7-9754E763D6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439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081F3B72-EC60-857C-D568-C8AD8FE440E3}"/>
              </a:ext>
            </a:extLst>
          </p:cNvPr>
          <p:cNvSpPr/>
          <p:nvPr/>
        </p:nvSpPr>
        <p:spPr>
          <a:xfrm>
            <a:off x="11914964" y="547700"/>
            <a:ext cx="148405" cy="506453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C11ABAB-3D58-8D16-DF61-9C8CA91AE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985" y="173796"/>
            <a:ext cx="11339946" cy="577081"/>
          </a:xfrm>
        </p:spPr>
        <p:txBody>
          <a:bodyPr/>
          <a:lstStyle/>
          <a:p>
            <a:r>
              <a:rPr lang="en-GB" sz="3500" kern="0" err="1">
                <a:solidFill>
                  <a:srgbClr val="0E9B6A"/>
                </a:solidFill>
                <a:latin typeface="Hanken Grotesk"/>
                <a:cs typeface="Hanken Grotesk"/>
              </a:rPr>
              <a:t>Bimzelx</a:t>
            </a:r>
            <a:r>
              <a:rPr lang="en-GB" sz="3500" kern="0">
                <a:solidFill>
                  <a:srgbClr val="0E9B6A"/>
                </a:solidFill>
                <a:latin typeface="Hanken Grotesk"/>
                <a:cs typeface="Hanken Grotesk"/>
              </a:rPr>
              <a:t> Patient Community Team Charter</a:t>
            </a:r>
            <a:endParaRPr lang="fr-BE" sz="3500" kern="0">
              <a:solidFill>
                <a:srgbClr val="0E9B6A"/>
              </a:solidFill>
              <a:latin typeface="Hanken Grotesk"/>
              <a:cs typeface="Hanken Grotes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61BDF9-A2B0-BD8C-CCAC-5512D4A56A79}"/>
              </a:ext>
            </a:extLst>
          </p:cNvPr>
          <p:cNvSpPr/>
          <p:nvPr/>
        </p:nvSpPr>
        <p:spPr>
          <a:xfrm>
            <a:off x="451401" y="2656028"/>
            <a:ext cx="1916362" cy="365050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8392817-03AD-6F8E-75AD-49FA239C96E2}"/>
              </a:ext>
            </a:extLst>
          </p:cNvPr>
          <p:cNvSpPr/>
          <p:nvPr/>
        </p:nvSpPr>
        <p:spPr>
          <a:xfrm>
            <a:off x="2429480" y="2661044"/>
            <a:ext cx="2723626" cy="364548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E9A533-8E41-71B6-81CB-1CB9BF1623EB}"/>
              </a:ext>
            </a:extLst>
          </p:cNvPr>
          <p:cNvSpPr txBox="1"/>
          <p:nvPr/>
        </p:nvSpPr>
        <p:spPr>
          <a:xfrm>
            <a:off x="413335" y="2710635"/>
            <a:ext cx="2244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F0502020204030204" pitchFamily="34" charset="0"/>
                <a:ea typeface="+mn-ea"/>
                <a:cs typeface="Hanken Grotesk" panose="020F0502020204030204" pitchFamily="34" charset="0"/>
                <a:sym typeface="Hanken Grotesk"/>
              </a:rPr>
              <a:t>Our Leadership Behaviours we Commit to: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57763B1-A77F-B1D7-C3C6-6F965456AA0C}"/>
              </a:ext>
            </a:extLst>
          </p:cNvPr>
          <p:cNvSpPr/>
          <p:nvPr/>
        </p:nvSpPr>
        <p:spPr>
          <a:xfrm>
            <a:off x="451401" y="744650"/>
            <a:ext cx="11525387" cy="83408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8E858D-571A-F041-1303-F108CF823DDC}"/>
              </a:ext>
            </a:extLst>
          </p:cNvPr>
          <p:cNvSpPr txBox="1"/>
          <p:nvPr/>
        </p:nvSpPr>
        <p:spPr>
          <a:xfrm>
            <a:off x="462481" y="744649"/>
            <a:ext cx="224426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GB" b="1">
                <a:solidFill>
                  <a:srgbClr val="0E9B6A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Primary Task</a:t>
            </a: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: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CE77DDD-3BDF-6907-15A2-FA73EDEE166C}"/>
              </a:ext>
            </a:extLst>
          </p:cNvPr>
          <p:cNvSpPr/>
          <p:nvPr/>
        </p:nvSpPr>
        <p:spPr>
          <a:xfrm>
            <a:off x="9264242" y="79927"/>
            <a:ext cx="2723626" cy="6010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A3CE88-19C8-2421-BA64-65324BFDF2BE}"/>
              </a:ext>
            </a:extLst>
          </p:cNvPr>
          <p:cNvSpPr txBox="1"/>
          <p:nvPr/>
        </p:nvSpPr>
        <p:spPr>
          <a:xfrm>
            <a:off x="9278423" y="46573"/>
            <a:ext cx="2244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F0502020204030204" pitchFamily="34" charset="0"/>
                <a:ea typeface="+mn-ea"/>
                <a:cs typeface="Hanken Grotesk" panose="020F0502020204030204" pitchFamily="34" charset="0"/>
                <a:sym typeface="Hanken Grotesk"/>
              </a:rPr>
              <a:t>Date Set: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3F375BC-BCEA-1275-8879-B4402ECAD1A4}"/>
              </a:ext>
            </a:extLst>
          </p:cNvPr>
          <p:cNvSpPr txBox="1"/>
          <p:nvPr/>
        </p:nvSpPr>
        <p:spPr>
          <a:xfrm>
            <a:off x="9278422" y="337609"/>
            <a:ext cx="2244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F0502020204030204" pitchFamily="34" charset="0"/>
                <a:ea typeface="+mn-ea"/>
                <a:cs typeface="Hanken Grotesk" panose="020F0502020204030204" pitchFamily="34" charset="0"/>
                <a:sym typeface="Hanken Grotesk"/>
              </a:rPr>
              <a:t>Next Review:</a:t>
            </a:r>
          </a:p>
        </p:txBody>
      </p:sp>
      <p:sp>
        <p:nvSpPr>
          <p:cNvPr id="54" name="Arrow: Curved Left 53">
            <a:extLst>
              <a:ext uri="{FF2B5EF4-FFF2-40B4-BE49-F238E27FC236}">
                <a16:creationId xmlns:a16="http://schemas.microsoft.com/office/drawing/2014/main" id="{627B64CF-FD94-9C4A-968B-BCFAAA6EBB00}"/>
              </a:ext>
            </a:extLst>
          </p:cNvPr>
          <p:cNvSpPr/>
          <p:nvPr/>
        </p:nvSpPr>
        <p:spPr>
          <a:xfrm flipV="1">
            <a:off x="8570418" y="8715839"/>
            <a:ext cx="268447" cy="478172"/>
          </a:xfrm>
          <a:prstGeom prst="curvedLeftArrow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55" name="Arrow: Curved Left 54">
            <a:extLst>
              <a:ext uri="{FF2B5EF4-FFF2-40B4-BE49-F238E27FC236}">
                <a16:creationId xmlns:a16="http://schemas.microsoft.com/office/drawing/2014/main" id="{DB625F46-6C2B-1569-447E-3E7BCEC75702}"/>
              </a:ext>
            </a:extLst>
          </p:cNvPr>
          <p:cNvSpPr/>
          <p:nvPr/>
        </p:nvSpPr>
        <p:spPr>
          <a:xfrm flipV="1">
            <a:off x="11522692" y="8715839"/>
            <a:ext cx="268447" cy="478172"/>
          </a:xfrm>
          <a:prstGeom prst="curvedLeftArrow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24FEA9-BE50-0C34-B7BA-EBE6B5723268}"/>
              </a:ext>
            </a:extLst>
          </p:cNvPr>
          <p:cNvSpPr/>
          <p:nvPr/>
        </p:nvSpPr>
        <p:spPr>
          <a:xfrm>
            <a:off x="11724028" y="9568206"/>
            <a:ext cx="263840" cy="28280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3D1AA-113A-D3D4-354D-AC1ECE7B2E56}"/>
              </a:ext>
            </a:extLst>
          </p:cNvPr>
          <p:cNvSpPr/>
          <p:nvPr/>
        </p:nvSpPr>
        <p:spPr>
          <a:xfrm>
            <a:off x="451401" y="1642397"/>
            <a:ext cx="2835612" cy="94997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22A448-E581-B458-8EFF-F336683C53CA}"/>
              </a:ext>
            </a:extLst>
          </p:cNvPr>
          <p:cNvSpPr/>
          <p:nvPr/>
        </p:nvSpPr>
        <p:spPr>
          <a:xfrm>
            <a:off x="3349638" y="1642397"/>
            <a:ext cx="2852924" cy="94997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9EEBAB-9170-613E-096D-2FFABF072819}"/>
              </a:ext>
            </a:extLst>
          </p:cNvPr>
          <p:cNvSpPr txBox="1"/>
          <p:nvPr/>
        </p:nvSpPr>
        <p:spPr>
          <a:xfrm>
            <a:off x="399945" y="1612302"/>
            <a:ext cx="2244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F0502020204030204" pitchFamily="34" charset="0"/>
                <a:ea typeface="+mn-ea"/>
                <a:cs typeface="Hanken Grotesk" panose="020F0502020204030204" pitchFamily="34" charset="0"/>
                <a:sym typeface="Hanken Grotesk"/>
              </a:rPr>
              <a:t>In Scope: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9F1C4D-3F84-E404-AADB-180F4E66CD89}"/>
              </a:ext>
            </a:extLst>
          </p:cNvPr>
          <p:cNvSpPr txBox="1"/>
          <p:nvPr/>
        </p:nvSpPr>
        <p:spPr>
          <a:xfrm>
            <a:off x="3292597" y="1612302"/>
            <a:ext cx="2244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F0502020204030204" pitchFamily="34" charset="0"/>
                <a:ea typeface="+mn-ea"/>
                <a:cs typeface="Hanken Grotesk" panose="020F0502020204030204" pitchFamily="34" charset="0"/>
                <a:sym typeface="Hanken Grotesk"/>
              </a:rPr>
              <a:t>Out of Scope: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B6C6FA-E9AA-3B27-34FA-FF10F39FC745}"/>
              </a:ext>
            </a:extLst>
          </p:cNvPr>
          <p:cNvSpPr/>
          <p:nvPr/>
        </p:nvSpPr>
        <p:spPr>
          <a:xfrm>
            <a:off x="6259602" y="1642397"/>
            <a:ext cx="2835612" cy="94997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208E60-61B0-47CB-6CBF-AA885689BABC}"/>
              </a:ext>
            </a:extLst>
          </p:cNvPr>
          <p:cNvSpPr/>
          <p:nvPr/>
        </p:nvSpPr>
        <p:spPr>
          <a:xfrm>
            <a:off x="9152255" y="1642397"/>
            <a:ext cx="2835612" cy="94997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48A714-C8CB-3B60-5512-003731C3232A}"/>
              </a:ext>
            </a:extLst>
          </p:cNvPr>
          <p:cNvSpPr txBox="1"/>
          <p:nvPr/>
        </p:nvSpPr>
        <p:spPr>
          <a:xfrm>
            <a:off x="6226686" y="1619895"/>
            <a:ext cx="2933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F0502020204030204" pitchFamily="34" charset="0"/>
                <a:ea typeface="+mn-ea"/>
                <a:cs typeface="Hanken Grotesk" panose="020F0502020204030204" pitchFamily="34" charset="0"/>
                <a:sym typeface="Hanken Grotesk"/>
              </a:rPr>
              <a:t>Characteristics of As-Is State: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22C2A7-DBF7-4068-2455-783C551BB97E}"/>
              </a:ext>
            </a:extLst>
          </p:cNvPr>
          <p:cNvSpPr txBox="1"/>
          <p:nvPr/>
        </p:nvSpPr>
        <p:spPr>
          <a:xfrm>
            <a:off x="9109024" y="1619895"/>
            <a:ext cx="308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F0502020204030204" pitchFamily="34" charset="0"/>
                <a:ea typeface="+mn-ea"/>
                <a:cs typeface="Hanken Grotesk" panose="020F0502020204030204" pitchFamily="34" charset="0"/>
                <a:sym typeface="Hanken Grotesk"/>
              </a:rPr>
              <a:t>Characteristics of To-Be State: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C30DB8-286E-88D9-0DE3-C06CFBA3CC90}"/>
              </a:ext>
            </a:extLst>
          </p:cNvPr>
          <p:cNvSpPr txBox="1"/>
          <p:nvPr/>
        </p:nvSpPr>
        <p:spPr>
          <a:xfrm>
            <a:off x="2423193" y="2684818"/>
            <a:ext cx="276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F0502020204030204" pitchFamily="34" charset="0"/>
                <a:ea typeface="+mn-ea"/>
                <a:cs typeface="Hanken Grotesk" panose="020F0502020204030204" pitchFamily="34" charset="0"/>
                <a:sym typeface="Hanken Grotesk"/>
              </a:rPr>
              <a:t>Team Commitments: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513271-DC5C-B93D-2B3E-556B97EA1118}"/>
              </a:ext>
            </a:extLst>
          </p:cNvPr>
          <p:cNvSpPr/>
          <p:nvPr/>
        </p:nvSpPr>
        <p:spPr>
          <a:xfrm>
            <a:off x="5218391" y="2661044"/>
            <a:ext cx="2723626" cy="364548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969EE6-A2C4-A927-9135-8FEC6CD7C166}"/>
              </a:ext>
            </a:extLst>
          </p:cNvPr>
          <p:cNvSpPr txBox="1"/>
          <p:nvPr/>
        </p:nvSpPr>
        <p:spPr>
          <a:xfrm>
            <a:off x="5263014" y="2694607"/>
            <a:ext cx="276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F0502020204030204" pitchFamily="34" charset="0"/>
                <a:ea typeface="+mn-ea"/>
                <a:cs typeface="Hanken Grotesk" panose="020F0502020204030204" pitchFamily="34" charset="0"/>
                <a:sym typeface="Hanken Grotesk"/>
              </a:rPr>
              <a:t>Success Measures: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FC4084-7653-049D-8C64-06D09F22160F}"/>
              </a:ext>
            </a:extLst>
          </p:cNvPr>
          <p:cNvSpPr/>
          <p:nvPr/>
        </p:nvSpPr>
        <p:spPr>
          <a:xfrm>
            <a:off x="7999832" y="2661044"/>
            <a:ext cx="2723626" cy="364548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87B0B6-28E6-1588-9778-D0CFDD81C684}"/>
              </a:ext>
            </a:extLst>
          </p:cNvPr>
          <p:cNvSpPr txBox="1"/>
          <p:nvPr/>
        </p:nvSpPr>
        <p:spPr>
          <a:xfrm>
            <a:off x="7997447" y="2697580"/>
            <a:ext cx="276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F0502020204030204" pitchFamily="34" charset="0"/>
                <a:ea typeface="+mn-ea"/>
                <a:cs typeface="Hanken Grotesk" panose="020F0502020204030204" pitchFamily="34" charset="0"/>
                <a:sym typeface="Hanken Grotesk"/>
              </a:rPr>
              <a:t>Commitment Champions: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FCB767-EBC8-7E16-0FA1-C3E0478D4DFE}"/>
              </a:ext>
            </a:extLst>
          </p:cNvPr>
          <p:cNvSpPr/>
          <p:nvPr/>
        </p:nvSpPr>
        <p:spPr>
          <a:xfrm>
            <a:off x="10790043" y="2661044"/>
            <a:ext cx="1197824" cy="364548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F3DEF0-E0A9-5BC0-E45C-97F8326EB2BE}"/>
              </a:ext>
            </a:extLst>
          </p:cNvPr>
          <p:cNvSpPr txBox="1"/>
          <p:nvPr/>
        </p:nvSpPr>
        <p:spPr>
          <a:xfrm>
            <a:off x="10781273" y="2710635"/>
            <a:ext cx="1282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F0502020204030204" pitchFamily="34" charset="0"/>
                <a:ea typeface="+mn-ea"/>
                <a:cs typeface="Hanken Grotesk" panose="020F0502020204030204" pitchFamily="34" charset="0"/>
                <a:sym typeface="Hanken Grotesk"/>
              </a:rPr>
              <a:t>Signatures: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D23312C-8F24-7016-B0A3-1EF2BA86567D}"/>
              </a:ext>
            </a:extLst>
          </p:cNvPr>
          <p:cNvCxnSpPr>
            <a:cxnSpLocks/>
          </p:cNvCxnSpPr>
          <p:nvPr/>
        </p:nvCxnSpPr>
        <p:spPr>
          <a:xfrm>
            <a:off x="2430071" y="3054150"/>
            <a:ext cx="83002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42A8D07-CEF3-A286-F111-1F438216DB6B}"/>
              </a:ext>
            </a:extLst>
          </p:cNvPr>
          <p:cNvCxnSpPr>
            <a:cxnSpLocks/>
          </p:cNvCxnSpPr>
          <p:nvPr/>
        </p:nvCxnSpPr>
        <p:spPr>
          <a:xfrm>
            <a:off x="2430071" y="3520145"/>
            <a:ext cx="83002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9C73B6D-5ABC-81C1-A1D0-B80564CB64F7}"/>
              </a:ext>
            </a:extLst>
          </p:cNvPr>
          <p:cNvCxnSpPr>
            <a:cxnSpLocks/>
          </p:cNvCxnSpPr>
          <p:nvPr/>
        </p:nvCxnSpPr>
        <p:spPr>
          <a:xfrm>
            <a:off x="2430071" y="3986140"/>
            <a:ext cx="83002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DCBCDAA-264B-5571-5134-842DA0DAC3BA}"/>
              </a:ext>
            </a:extLst>
          </p:cNvPr>
          <p:cNvCxnSpPr>
            <a:cxnSpLocks/>
          </p:cNvCxnSpPr>
          <p:nvPr/>
        </p:nvCxnSpPr>
        <p:spPr>
          <a:xfrm>
            <a:off x="2430071" y="4452135"/>
            <a:ext cx="83002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834F6C-09D9-B4D7-6022-984A68F57C19}"/>
              </a:ext>
            </a:extLst>
          </p:cNvPr>
          <p:cNvCxnSpPr>
            <a:cxnSpLocks/>
          </p:cNvCxnSpPr>
          <p:nvPr/>
        </p:nvCxnSpPr>
        <p:spPr>
          <a:xfrm>
            <a:off x="2430071" y="4918130"/>
            <a:ext cx="83002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EF691BC-4331-770D-F50D-A56C7F9F401A}"/>
              </a:ext>
            </a:extLst>
          </p:cNvPr>
          <p:cNvCxnSpPr>
            <a:cxnSpLocks/>
          </p:cNvCxnSpPr>
          <p:nvPr/>
        </p:nvCxnSpPr>
        <p:spPr>
          <a:xfrm>
            <a:off x="2430071" y="5384125"/>
            <a:ext cx="83002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F92FC42-1CE0-1CAD-7466-3D87064574C5}"/>
              </a:ext>
            </a:extLst>
          </p:cNvPr>
          <p:cNvCxnSpPr>
            <a:cxnSpLocks/>
          </p:cNvCxnSpPr>
          <p:nvPr/>
        </p:nvCxnSpPr>
        <p:spPr>
          <a:xfrm>
            <a:off x="2430071" y="5850118"/>
            <a:ext cx="83002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18BEEE7-3D77-B8F4-464B-75CB3640F773}"/>
              </a:ext>
            </a:extLst>
          </p:cNvPr>
          <p:cNvSpPr/>
          <p:nvPr/>
        </p:nvSpPr>
        <p:spPr>
          <a:xfrm>
            <a:off x="11791139" y="6504317"/>
            <a:ext cx="337601" cy="2737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786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54310-6ABB-7393-360A-AA273CB4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D46AEE-B3F4-8838-E8D9-580A19595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4741" y="1191226"/>
            <a:ext cx="3374241" cy="3295333"/>
          </a:xfrm>
          <a:prstGeom prst="rect">
            <a:avLst/>
          </a:prstGeom>
        </p:spPr>
      </p:pic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9D307BAC-0908-A63E-AA67-2F73046E61E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0" imgH="350" progId="TCLayout.ActiveDocument.1">
                  <p:embed/>
                </p:oleObj>
              </mc:Choice>
              <mc:Fallback>
                <p:oleObj name="think-cell Slide" r:id="rId5" imgW="350" imgH="350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D307BAC-0908-A63E-AA67-2F73046E61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8C579AD-5DE8-AF85-2ACD-F38F777D2AE3}"/>
              </a:ext>
            </a:extLst>
          </p:cNvPr>
          <p:cNvSpPr txBox="1"/>
          <p:nvPr/>
        </p:nvSpPr>
        <p:spPr>
          <a:xfrm>
            <a:off x="498326" y="254044"/>
            <a:ext cx="11693675" cy="70788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4000" b="1" err="1">
                <a:solidFill>
                  <a:srgbClr val="1FC489"/>
                </a:solidFill>
                <a:latin typeface="Schibsted Grotesk"/>
                <a:cs typeface="Schibsted Grotesk"/>
              </a:rPr>
              <a:t>Bimzelx</a:t>
            </a:r>
            <a:r>
              <a:rPr lang="en-US" sz="4000" b="1">
                <a:solidFill>
                  <a:srgbClr val="1FC489"/>
                </a:solidFill>
                <a:latin typeface="Schibsted Grotesk"/>
                <a:cs typeface="Schibsted Grotesk"/>
              </a:rPr>
              <a:t> Patient Community Team</a:t>
            </a:r>
            <a:r>
              <a:rPr lang="en-US" sz="4000" b="1" kern="1200">
                <a:solidFill>
                  <a:srgbClr val="1FC489"/>
                </a:solidFill>
                <a:latin typeface="Schibsted Grotesk"/>
                <a:cs typeface="Schibsted Grotesk"/>
              </a:rPr>
              <a:t> Charter</a:t>
            </a:r>
            <a:endParaRPr lang="en-US">
              <a:latin typeface="Schibsted Grotesk"/>
              <a:cs typeface="Schibsted Grotesk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334DE3-26B0-5C53-2C93-393AA49393B0}"/>
              </a:ext>
            </a:extLst>
          </p:cNvPr>
          <p:cNvSpPr txBox="1"/>
          <p:nvPr/>
        </p:nvSpPr>
        <p:spPr>
          <a:xfrm>
            <a:off x="503018" y="1390411"/>
            <a:ext cx="11481489" cy="37856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B0604020202020204" pitchFamily="34" charset="0"/>
                <a:ea typeface="+mn-ea"/>
                <a:cs typeface="Hanken Grotesk" panose="020B0604020202020204" pitchFamily="34" charset="0"/>
                <a:sym typeface="Hanken Grotesk"/>
              </a:rPr>
              <a:t>Part </a:t>
            </a:r>
            <a:r>
              <a:rPr lang="en-GB" sz="2400" b="1" kern="1200">
                <a:solidFill>
                  <a:srgbClr val="0E9B6A"/>
                </a:solidFill>
                <a:latin typeface="Hanken Grotesk" panose="020B0604020202020204" pitchFamily="34" charset="0"/>
                <a:ea typeface="+mn-ea"/>
                <a:cs typeface="Hanken Grotesk" panose="020B0604020202020204" pitchFamily="34" charset="0"/>
              </a:rPr>
              <a:t>2</a:t>
            </a:r>
            <a:r>
              <a: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B0604020202020204" pitchFamily="34" charset="0"/>
                <a:ea typeface="+mn-ea"/>
                <a:cs typeface="Hanken Grotesk" panose="020B0604020202020204" pitchFamily="34" charset="0"/>
                <a:sym typeface="Hanken Grotesk"/>
              </a:rPr>
              <a:t>: In Scope and Out of Scope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ken Grotesk" panose="020B0604020202020204" pitchFamily="34" charset="0"/>
                <a:ea typeface="+mn-ea"/>
                <a:cs typeface="Hanken Grotesk" panose="020B0604020202020204" pitchFamily="34" charset="0"/>
                <a:sym typeface="Hanken Grotesk"/>
              </a:rPr>
              <a:t>Consider What Needs to be In Scope and Out of Scope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ken Grotesk" panose="020B0604020202020204" pitchFamily="34" charset="0"/>
                <a:ea typeface="+mn-ea"/>
                <a:cs typeface="Hanken Grotesk" panose="020B0604020202020204" pitchFamily="34" charset="0"/>
                <a:sym typeface="Hanken Grotesk"/>
              </a:rPr>
              <a:t>to Set You Up for Success in 2026? (</a:t>
            </a:r>
            <a:r>
              <a:rPr lang="en-GB" sz="2400" b="1" kern="1200">
                <a:solidFill>
                  <a:prstClr val="black"/>
                </a:solidFill>
                <a:latin typeface="Hanken Grotesk" panose="020B0604020202020204" pitchFamily="34" charset="0"/>
                <a:ea typeface="+mn-ea"/>
                <a:cs typeface="Hanken Grotesk" panose="020B0604020202020204" pitchFamily="34" charset="0"/>
              </a:rPr>
              <a:t>5</a:t>
            </a:r>
            <a:r>
              <a:rPr kumimoji="0" lang="en-GB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ken Grotesk" panose="020B0604020202020204" pitchFamily="34" charset="0"/>
                <a:ea typeface="+mn-ea"/>
                <a:cs typeface="Hanken Grotesk" panose="020B0604020202020204" pitchFamily="34" charset="0"/>
                <a:sym typeface="Hanken Grotesk"/>
              </a:rPr>
              <a:t> mins)</a:t>
            </a:r>
            <a:endParaRPr kumimoji="0" lang="en-GB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nken Grotesk" panose="020B0604020202020204" pitchFamily="34" charset="0"/>
              <a:cs typeface="Hanken Grotesk" panose="020B0604020202020204" pitchFamily="34" charset="0"/>
              <a:sym typeface="Hanken Grotesk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nken Grotesk" panose="020B0604020202020204" pitchFamily="34" charset="0"/>
              <a:ea typeface="+mn-ea"/>
              <a:cs typeface="Hanken Grotesk" panose="020B0604020202020204" pitchFamily="34" charset="0"/>
              <a:sym typeface="Hanken Grotesk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ken Grotesk" panose="020B0604020202020204" pitchFamily="34" charset="0"/>
                <a:ea typeface="+mn-ea"/>
                <a:cs typeface="Hanken Grotesk" panose="020B0604020202020204" pitchFamily="34" charset="0"/>
                <a:sym typeface="Hanken Grotesk"/>
              </a:rPr>
              <a:t>E.g.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ken Grotesk" panose="020B0604020202020204" pitchFamily="34" charset="0"/>
                <a:ea typeface="+mn-ea"/>
                <a:cs typeface="Hanken Grotesk" panose="020B0604020202020204" pitchFamily="34" charset="0"/>
                <a:sym typeface="Hanken Grotesk"/>
              </a:rPr>
              <a:t>In Scope</a:t>
            </a:r>
            <a:r>
              <a:rPr kumimoji="0" lang="en-GB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ken Grotesk" panose="020B0604020202020204" pitchFamily="34" charset="0"/>
                <a:ea typeface="+mn-ea"/>
                <a:cs typeface="Hanken Grotesk" panose="020B0604020202020204" pitchFamily="34" charset="0"/>
                <a:sym typeface="Hanken Grotesk"/>
              </a:rPr>
              <a:t>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rgbClr val="204C56"/>
                </a:solidFill>
                <a:effectLst/>
                <a:uLnTx/>
                <a:uFillTx/>
                <a:latin typeface="Hanken Grotesk" panose="020B0604020202020204" pitchFamily="34" charset="0"/>
                <a:ea typeface="+mn-ea"/>
                <a:cs typeface="Hanken Grotesk" panose="020B0604020202020204" pitchFamily="34" charset="0"/>
                <a:sym typeface="Hanken Grotesk"/>
              </a:rPr>
              <a:t>Activities related to our 3-year strategy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nken Grotesk" panose="020B0604020202020204" pitchFamily="34" charset="0"/>
              <a:ea typeface="+mn-ea"/>
              <a:cs typeface="Hanken Grotesk" panose="020B0604020202020204" pitchFamily="34" charset="0"/>
              <a:sym typeface="Hanken Grotesk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ken Grotesk" panose="020B0604020202020204" pitchFamily="34" charset="0"/>
                <a:ea typeface="+mn-ea"/>
                <a:cs typeface="Hanken Grotesk" panose="020B0604020202020204" pitchFamily="34" charset="0"/>
                <a:sym typeface="Hanken Grotesk"/>
              </a:rPr>
              <a:t>Out of Scope</a:t>
            </a:r>
            <a:r>
              <a:rPr kumimoji="0" lang="en-GB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ken Grotesk" panose="020B0604020202020204" pitchFamily="34" charset="0"/>
                <a:ea typeface="+mn-ea"/>
                <a:cs typeface="Hanken Grotesk" panose="020B0604020202020204" pitchFamily="34" charset="0"/>
                <a:sym typeface="Hanken Grotesk"/>
              </a:rPr>
              <a:t>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rgbClr val="1FC489"/>
                </a:solidFill>
                <a:effectLst/>
                <a:uLnTx/>
                <a:uFillTx/>
                <a:latin typeface="Hanken Grotesk" panose="020B0604020202020204" pitchFamily="34" charset="0"/>
                <a:ea typeface="Hanken Grotesk"/>
                <a:cs typeface="Hanken Grotesk" panose="020B0604020202020204" pitchFamily="34" charset="0"/>
                <a:sym typeface="Hanken Grotesk"/>
              </a:rPr>
              <a:t>The OPM (this was agreed in 2025)</a:t>
            </a:r>
          </a:p>
        </p:txBody>
      </p:sp>
    </p:spTree>
    <p:extLst>
      <p:ext uri="{BB962C8B-B14F-4D97-AF65-F5344CB8AC3E}">
        <p14:creationId xmlns:p14="http://schemas.microsoft.com/office/powerpoint/2010/main" val="1364090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F6713-D791-0944-0823-F421E381C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0610D91A-CEC0-40C6-FF60-43697D2B90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0" imgH="350" progId="TCLayout.ActiveDocument.1">
                  <p:embed/>
                </p:oleObj>
              </mc:Choice>
              <mc:Fallback>
                <p:oleObj name="think-cell Slide" r:id="rId4" imgW="350" imgH="350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610D91A-CEC0-40C6-FF60-43697D2B90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C712CE-E6E7-FFB2-6508-58DCF6223D48}"/>
              </a:ext>
            </a:extLst>
          </p:cNvPr>
          <p:cNvSpPr txBox="1"/>
          <p:nvPr/>
        </p:nvSpPr>
        <p:spPr>
          <a:xfrm>
            <a:off x="498325" y="240676"/>
            <a:ext cx="11466413" cy="721254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4000" b="1" err="1">
                <a:solidFill>
                  <a:srgbClr val="1FC489"/>
                </a:solidFill>
                <a:latin typeface="Schibsted Grotesk"/>
                <a:cs typeface="Schibsted Grotesk"/>
              </a:rPr>
              <a:t>Bimzelx</a:t>
            </a:r>
            <a:r>
              <a:rPr lang="en-US" sz="4000" b="1">
                <a:solidFill>
                  <a:srgbClr val="1FC489"/>
                </a:solidFill>
                <a:latin typeface="Schibsted Grotesk"/>
                <a:cs typeface="Schibsted Grotesk"/>
              </a:rPr>
              <a:t> Patient Community </a:t>
            </a:r>
            <a:r>
              <a:rPr lang="en-US" sz="4000" b="1" kern="1200">
                <a:solidFill>
                  <a:srgbClr val="1FC489"/>
                </a:solidFill>
                <a:latin typeface="Schibsted Grotesk"/>
                <a:cs typeface="Schibsted Grotesk"/>
              </a:rPr>
              <a:t>Team Charter</a:t>
            </a:r>
            <a:endParaRPr lang="en-US">
              <a:latin typeface="Schibsted Grotesk"/>
              <a:cs typeface="Schibsted Grotesk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3366A9-FDDA-1BDC-1DBA-4C5EFBFE8AD8}"/>
              </a:ext>
            </a:extLst>
          </p:cNvPr>
          <p:cNvSpPr txBox="1"/>
          <p:nvPr/>
        </p:nvSpPr>
        <p:spPr>
          <a:xfrm>
            <a:off x="503018" y="961930"/>
            <a:ext cx="11481489" cy="1200329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B0604020202020204" pitchFamily="34" charset="0"/>
                <a:ea typeface="+mn-ea"/>
                <a:cs typeface="Hanken Grotesk" panose="020B0604020202020204" pitchFamily="34" charset="0"/>
                <a:sym typeface="Hanken Grotesk"/>
              </a:rPr>
              <a:t>Part 3: As-Is and To-Be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ken Grotesk" panose="020B0604020202020204" pitchFamily="34" charset="0"/>
                <a:ea typeface="+mn-ea"/>
                <a:cs typeface="Hanken Grotesk" panose="020B0604020202020204" pitchFamily="34" charset="0"/>
                <a:sym typeface="Hanken Grotesk"/>
              </a:rPr>
              <a:t>Consider these As-Is Statements and To-Be Statements we have taken from your team survey</a:t>
            </a:r>
            <a:r>
              <a:rPr lang="en-GB" sz="2400" b="1" kern="1200">
                <a:solidFill>
                  <a:prstClr val="black"/>
                </a:solidFill>
                <a:latin typeface="Hanken Grotesk" panose="020B0604020202020204" pitchFamily="34" charset="0"/>
                <a:ea typeface="+mn-ea"/>
                <a:cs typeface="Hanken Grotesk" panose="020B0604020202020204" pitchFamily="34" charset="0"/>
              </a:rPr>
              <a:t> </a:t>
            </a:r>
            <a:r>
              <a:rPr kumimoji="0" lang="en-GB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ken Grotesk" panose="020B0604020202020204" pitchFamily="34" charset="0"/>
                <a:ea typeface="+mn-ea"/>
                <a:cs typeface="Hanken Grotesk" panose="020B0604020202020204" pitchFamily="34" charset="0"/>
                <a:sym typeface="Hanken Grotesk"/>
              </a:rPr>
              <a:t>(10 mins).  </a:t>
            </a:r>
            <a:r>
              <a:rPr lang="en-GB" sz="2400" b="1" kern="1200">
                <a:solidFill>
                  <a:prstClr val="black"/>
                </a:solidFill>
                <a:latin typeface="Hanken Grotesk" panose="020B0604020202020204" pitchFamily="34" charset="0"/>
                <a:ea typeface="+mn-ea"/>
                <a:cs typeface="Hanken Grotesk" panose="020B0604020202020204" pitchFamily="34" charset="0"/>
              </a:rPr>
              <a:t>Does this do your team justice? </a:t>
            </a:r>
            <a:endParaRPr kumimoji="0" lang="en-GB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nken Grotesk" panose="020B0604020202020204" pitchFamily="34" charset="0"/>
              <a:ea typeface="+mn-ea"/>
              <a:cs typeface="Hanken Grotesk" panose="020B0604020202020204" pitchFamily="34" charset="0"/>
              <a:sym typeface="Hanken Grotes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BDE971-18DF-2D03-461D-75B383070CE5}"/>
              </a:ext>
            </a:extLst>
          </p:cNvPr>
          <p:cNvSpPr txBox="1"/>
          <p:nvPr/>
        </p:nvSpPr>
        <p:spPr>
          <a:xfrm>
            <a:off x="503017" y="2242051"/>
            <a:ext cx="11327475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800" b="1"/>
              <a:t>As-Is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11A7FC-367A-D513-A73F-77A98D7C778B}"/>
              </a:ext>
            </a:extLst>
          </p:cNvPr>
          <p:cNvSpPr/>
          <p:nvPr/>
        </p:nvSpPr>
        <p:spPr>
          <a:xfrm>
            <a:off x="361507" y="5178051"/>
            <a:ext cx="1105786" cy="9994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73AA3F-BE97-B72D-6126-8615C00081F9}"/>
              </a:ext>
            </a:extLst>
          </p:cNvPr>
          <p:cNvSpPr txBox="1"/>
          <p:nvPr/>
        </p:nvSpPr>
        <p:spPr>
          <a:xfrm>
            <a:off x="503016" y="2753227"/>
            <a:ext cx="11327475" cy="397031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GB" sz="2800" dirty="0">
                <a:solidFill>
                  <a:srgbClr val="1C454E"/>
                </a:solidFill>
                <a:highlight>
                  <a:srgbClr val="FFFFFF"/>
                </a:highlight>
                <a:latin typeface="Hanken Grotesk"/>
                <a:cs typeface="Hanken Grotesk"/>
              </a:rPr>
              <a:t>Our work is genuinely strong: nobody questions delivery quality and when the patient view arrives early, it changes decisions. </a:t>
            </a:r>
            <a:endParaRPr lang="en-US" sz="2800" dirty="0">
              <a:solidFill>
                <a:srgbClr val="1C454E"/>
              </a:solidFill>
              <a:highlight>
                <a:srgbClr val="FFFFFF"/>
              </a:highlight>
              <a:latin typeface="Hanken Grotesk"/>
              <a:cs typeface="Hanken Grotesk"/>
            </a:endParaRPr>
          </a:p>
          <a:p>
            <a:pPr algn="just"/>
            <a:endParaRPr lang="en-GB" sz="2800" dirty="0">
              <a:solidFill>
                <a:srgbClr val="1C454E"/>
              </a:solidFill>
              <a:highlight>
                <a:srgbClr val="FFFFFF"/>
              </a:highlight>
              <a:latin typeface="Hanken Grotesk"/>
              <a:cs typeface="Hanken Grotesk"/>
            </a:endParaRPr>
          </a:p>
          <a:p>
            <a:pPr algn="just"/>
            <a:r>
              <a:rPr lang="en-GB" sz="2800" dirty="0">
                <a:solidFill>
                  <a:srgbClr val="1C454E"/>
                </a:solidFill>
                <a:highlight>
                  <a:srgbClr val="FFFFFF"/>
                </a:highlight>
                <a:latin typeface="Hanken Grotesk"/>
                <a:cs typeface="Hanken Grotesk"/>
              </a:rPr>
              <a:t>We're just not yet harnessing our full strength as a team. Some stakeholders need to understand us better &amp; we mostly convene when Catrinel pulls us together. Few of us can name a decision we made as a group. </a:t>
            </a:r>
            <a:endParaRPr lang="en-US" sz="2800" dirty="0">
              <a:solidFill>
                <a:srgbClr val="1C454E"/>
              </a:solidFill>
              <a:highlight>
                <a:srgbClr val="FFFFFF"/>
              </a:highlight>
              <a:latin typeface="Hanken Grotesk"/>
              <a:cs typeface="Hanken Grotesk"/>
            </a:endParaRPr>
          </a:p>
          <a:p>
            <a:pPr algn="just"/>
            <a:endParaRPr lang="en-GB" sz="2800" dirty="0">
              <a:solidFill>
                <a:srgbClr val="1C454E"/>
              </a:solidFill>
              <a:highlight>
                <a:srgbClr val="FFFFFF"/>
              </a:highlight>
              <a:latin typeface="Hanken Grotesk"/>
              <a:cs typeface="Hanken Grotesk"/>
            </a:endParaRPr>
          </a:p>
          <a:p>
            <a:pPr algn="just"/>
            <a:r>
              <a:rPr lang="en-GB" sz="2800" dirty="0">
                <a:solidFill>
                  <a:srgbClr val="1C454E"/>
                </a:solidFill>
                <a:highlight>
                  <a:srgbClr val="FFFFFF"/>
                </a:highlight>
                <a:latin typeface="Hanken Grotesk"/>
                <a:cs typeface="Hanken Grotesk"/>
              </a:rPr>
              <a:t>Our primary task is clear on paper with opportunity to use it day to day.</a:t>
            </a:r>
            <a:endParaRPr lang="en-US" sz="2800" dirty="0">
              <a:solidFill>
                <a:srgbClr val="1C454E"/>
              </a:solidFill>
              <a:highlight>
                <a:srgbClr val="FFFFFF"/>
              </a:highlight>
              <a:latin typeface="Hanken Grotesk"/>
              <a:cs typeface="Hanken Grotesk"/>
            </a:endParaRPr>
          </a:p>
        </p:txBody>
      </p:sp>
    </p:spTree>
    <p:extLst>
      <p:ext uri="{BB962C8B-B14F-4D97-AF65-F5344CB8AC3E}">
        <p14:creationId xmlns:p14="http://schemas.microsoft.com/office/powerpoint/2010/main" val="3173137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AFCD2-F40A-2CF9-14E3-9C8BFDBA2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757CA0DA-B49A-B017-6817-96A4CBEC66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0" imgH="350" progId="TCLayout.ActiveDocument.1">
                  <p:embed/>
                </p:oleObj>
              </mc:Choice>
              <mc:Fallback>
                <p:oleObj name="think-cell Slide" r:id="rId4" imgW="350" imgH="350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57CA0DA-B49A-B017-6817-96A4CBEC66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3D8A37F-07E2-9F63-FE81-02B54A5FD1E7}"/>
              </a:ext>
            </a:extLst>
          </p:cNvPr>
          <p:cNvSpPr txBox="1"/>
          <p:nvPr/>
        </p:nvSpPr>
        <p:spPr>
          <a:xfrm>
            <a:off x="498326" y="254044"/>
            <a:ext cx="11693675" cy="70788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4000" b="1" err="1">
                <a:solidFill>
                  <a:srgbClr val="1FC489"/>
                </a:solidFill>
                <a:latin typeface="Schibsted Grotesk"/>
                <a:cs typeface="Schibsted Grotesk"/>
              </a:rPr>
              <a:t>Bimzelx</a:t>
            </a:r>
            <a:r>
              <a:rPr lang="en-US" sz="4000" b="1">
                <a:solidFill>
                  <a:srgbClr val="1FC489"/>
                </a:solidFill>
                <a:latin typeface="Schibsted Grotesk"/>
                <a:cs typeface="Schibsted Grotesk"/>
              </a:rPr>
              <a:t> Patient Community Team</a:t>
            </a:r>
            <a:r>
              <a:rPr lang="en-US" sz="4000" b="1" kern="1200">
                <a:solidFill>
                  <a:srgbClr val="1FC489"/>
                </a:solidFill>
                <a:latin typeface="Schibsted Grotesk"/>
                <a:cs typeface="Schibsted Grotesk"/>
              </a:rPr>
              <a:t> Charter</a:t>
            </a:r>
            <a:endParaRPr lang="en-US">
              <a:latin typeface="Schibsted Grotesk"/>
              <a:cs typeface="Schibsted Grotesk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8684A8-6B7B-4F12-73F2-64C9C68C1AEF}"/>
              </a:ext>
            </a:extLst>
          </p:cNvPr>
          <p:cNvSpPr txBox="1"/>
          <p:nvPr/>
        </p:nvSpPr>
        <p:spPr>
          <a:xfrm>
            <a:off x="503018" y="961930"/>
            <a:ext cx="11481489" cy="1200329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B0604020202020204" pitchFamily="34" charset="0"/>
                <a:ea typeface="+mn-ea"/>
                <a:cs typeface="Hanken Grotesk" panose="020B0604020202020204" pitchFamily="34" charset="0"/>
                <a:sym typeface="Hanken Grotesk"/>
              </a:rPr>
              <a:t>Part 3: As-Is and To-Be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ken Grotesk" panose="020B0604020202020204" pitchFamily="34" charset="0"/>
                <a:ea typeface="+mn-ea"/>
                <a:cs typeface="Hanken Grotesk" panose="020B0604020202020204" pitchFamily="34" charset="0"/>
                <a:sym typeface="Hanken Grotesk"/>
              </a:rPr>
              <a:t>Consider these As-Is Statements and To-Be Statements we have taken from your team survey</a:t>
            </a:r>
            <a:r>
              <a:rPr lang="en-GB" sz="2400" b="1" kern="1200">
                <a:solidFill>
                  <a:prstClr val="black"/>
                </a:solidFill>
                <a:latin typeface="Hanken Grotesk" panose="020B0604020202020204" pitchFamily="34" charset="0"/>
                <a:ea typeface="+mn-ea"/>
                <a:cs typeface="Hanken Grotesk" panose="020B0604020202020204" pitchFamily="34" charset="0"/>
              </a:rPr>
              <a:t> </a:t>
            </a:r>
            <a:r>
              <a:rPr kumimoji="0" lang="en-GB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ken Grotesk" panose="020B0604020202020204" pitchFamily="34" charset="0"/>
                <a:ea typeface="+mn-ea"/>
                <a:cs typeface="Hanken Grotesk" panose="020B0604020202020204" pitchFamily="34" charset="0"/>
                <a:sym typeface="Hanken Grotesk"/>
              </a:rPr>
              <a:t>(10 mins).  </a:t>
            </a:r>
            <a:r>
              <a:rPr lang="en-GB" sz="2400" b="1" kern="1200">
                <a:solidFill>
                  <a:prstClr val="black"/>
                </a:solidFill>
                <a:latin typeface="Hanken Grotesk" panose="020B0604020202020204" pitchFamily="34" charset="0"/>
                <a:ea typeface="+mn-ea"/>
                <a:cs typeface="Hanken Grotesk" panose="020B0604020202020204" pitchFamily="34" charset="0"/>
              </a:rPr>
              <a:t>Does this do your team justice? </a:t>
            </a:r>
            <a:endParaRPr kumimoji="0" lang="en-GB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nken Grotesk" panose="020B0604020202020204" pitchFamily="34" charset="0"/>
              <a:ea typeface="+mn-ea"/>
              <a:cs typeface="Hanken Grotesk" panose="020B0604020202020204" pitchFamily="34" charset="0"/>
              <a:sym typeface="Hanken Grotes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8C6AFB-1882-F606-906F-74655A1ED9A8}"/>
              </a:ext>
            </a:extLst>
          </p:cNvPr>
          <p:cNvSpPr txBox="1"/>
          <p:nvPr/>
        </p:nvSpPr>
        <p:spPr>
          <a:xfrm>
            <a:off x="503017" y="2305849"/>
            <a:ext cx="11327475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800" b="1"/>
              <a:t>To-Be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5321C6-F4C6-98AD-4874-782E5DF7BD63}"/>
              </a:ext>
            </a:extLst>
          </p:cNvPr>
          <p:cNvSpPr/>
          <p:nvPr/>
        </p:nvSpPr>
        <p:spPr>
          <a:xfrm>
            <a:off x="361507" y="5241849"/>
            <a:ext cx="1105786" cy="9994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262D8D-46E7-F36A-5544-D21ADE5B7C30}"/>
              </a:ext>
            </a:extLst>
          </p:cNvPr>
          <p:cNvSpPr txBox="1"/>
          <p:nvPr/>
        </p:nvSpPr>
        <p:spPr>
          <a:xfrm>
            <a:off x="503016" y="2817025"/>
            <a:ext cx="11327475" cy="397031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GB" sz="2800" dirty="0">
                <a:solidFill>
                  <a:srgbClr val="1C454E"/>
                </a:solidFill>
                <a:highlight>
                  <a:srgbClr val="FFFFFF"/>
                </a:highlight>
                <a:latin typeface="Hanken Grotesk"/>
                <a:cs typeface="Hanken Grotesk"/>
              </a:rPr>
              <a:t>We act as one team and not four functions working in parallel, coming together on our own initiative rather than only when convened. </a:t>
            </a:r>
            <a:endParaRPr lang="en-US" dirty="0"/>
          </a:p>
          <a:p>
            <a:pPr algn="just"/>
            <a:endParaRPr lang="en-GB" sz="2800" dirty="0">
              <a:solidFill>
                <a:srgbClr val="1C454E"/>
              </a:solidFill>
              <a:highlight>
                <a:srgbClr val="FFFFFF"/>
              </a:highlight>
              <a:latin typeface="Hanken Grotesk"/>
              <a:cs typeface="Hanken Grotesk"/>
            </a:endParaRPr>
          </a:p>
          <a:p>
            <a:pPr algn="just"/>
            <a:r>
              <a:rPr lang="en-GB" sz="2800" dirty="0">
                <a:solidFill>
                  <a:srgbClr val="1C454E"/>
                </a:solidFill>
                <a:highlight>
                  <a:srgbClr val="FFFFFF"/>
                </a:highlight>
                <a:latin typeface="Hanken Grotesk"/>
                <a:cs typeface="Hanken Grotesk"/>
              </a:rPr>
              <a:t>Our primary task actively guides our work day-to-day, and we can name decisions we made together. </a:t>
            </a:r>
            <a:endParaRPr lang="en-GB" dirty="0">
              <a:solidFill>
                <a:srgbClr val="000000"/>
              </a:solidFill>
              <a:latin typeface="Schibsted Grotesk" panose="02110004020202020204"/>
              <a:cs typeface="Hanken Grotesk"/>
            </a:endParaRPr>
          </a:p>
          <a:p>
            <a:pPr algn="just"/>
            <a:endParaRPr lang="en-GB" sz="2800" dirty="0">
              <a:solidFill>
                <a:srgbClr val="1C454E"/>
              </a:solidFill>
              <a:highlight>
                <a:srgbClr val="FFFFFF"/>
              </a:highlight>
              <a:latin typeface="Hanken Grotesk"/>
              <a:cs typeface="Hanken Grotesk"/>
            </a:endParaRPr>
          </a:p>
          <a:p>
            <a:pPr algn="just"/>
            <a:r>
              <a:rPr lang="en-GB" sz="2800" dirty="0">
                <a:solidFill>
                  <a:srgbClr val="1C454E"/>
                </a:solidFill>
                <a:highlight>
                  <a:srgbClr val="FFFFFF"/>
                </a:highlight>
                <a:latin typeface="Hanken Grotesk"/>
                <a:cs typeface="Hanken Grotesk"/>
              </a:rPr>
              <a:t>We seek out opportunities to communicate to stakeholders and the patient perspective is brought in early enough to shape the </a:t>
            </a:r>
            <a:r>
              <a:rPr lang="en-GB" sz="2800">
                <a:solidFill>
                  <a:srgbClr val="1C454E"/>
                </a:solidFill>
                <a:highlight>
                  <a:srgbClr val="FFFFFF"/>
                </a:highlight>
                <a:latin typeface="Hanken Grotesk"/>
                <a:cs typeface="Hanken Grotesk"/>
              </a:rPr>
              <a:t>outcome rathe.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1814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55ACF-0E7A-C489-FCA7-469DAE04C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27B120BD-5060-97CE-EDD5-7A9DA656FC4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0" imgH="350" progId="TCLayout.ActiveDocument.1">
                  <p:embed/>
                </p:oleObj>
              </mc:Choice>
              <mc:Fallback>
                <p:oleObj name="think-cell Slide" r:id="rId4" imgW="350" imgH="350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7B120BD-5060-97CE-EDD5-7A9DA656F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894E9F2-652B-54A8-A95B-4D821E2DC85B}"/>
              </a:ext>
            </a:extLst>
          </p:cNvPr>
          <p:cNvSpPr txBox="1"/>
          <p:nvPr/>
        </p:nvSpPr>
        <p:spPr>
          <a:xfrm>
            <a:off x="2516957" y="254044"/>
            <a:ext cx="9675044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1FC489"/>
                </a:solidFill>
                <a:effectLst/>
                <a:uLnTx/>
                <a:uFillTx/>
                <a:latin typeface="Schibsted Grotesk" pitchFamily="2" charset="77"/>
                <a:ea typeface="+mn-ea"/>
                <a:cs typeface="Schibsted Grotesk" pitchFamily="2" charset="77"/>
                <a:sym typeface="Hanken Grotesk"/>
              </a:rPr>
              <a:t>One Team Definition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F88D30-A24C-79DB-EF1C-75F7B479E93C}"/>
              </a:ext>
            </a:extLst>
          </p:cNvPr>
          <p:cNvSpPr txBox="1"/>
          <p:nvPr/>
        </p:nvSpPr>
        <p:spPr>
          <a:xfrm>
            <a:off x="503018" y="961930"/>
            <a:ext cx="11481489" cy="2123658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anken Grotesk"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B0604020202020204" pitchFamily="34" charset="0"/>
                <a:ea typeface="+mn-ea"/>
                <a:cs typeface="Hanken Grotesk" panose="020B0604020202020204" pitchFamily="34" charset="0"/>
                <a:sym typeface="Hanken Grotesk"/>
              </a:rPr>
              <a:t>Part 4: Joint Goal-Setting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anken Grotesk"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ken Grotesk" panose="020B0604020202020204" pitchFamily="34" charset="0"/>
                <a:ea typeface="Hanken Grotesk"/>
                <a:cs typeface="Hanken Grotesk" panose="020B0604020202020204" pitchFamily="34" charset="0"/>
                <a:sym typeface="Hanken Grotesk"/>
              </a:rPr>
              <a:t>We’re going to run a </a:t>
            </a:r>
            <a:r>
              <a: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204C56"/>
                </a:solidFill>
                <a:effectLst/>
                <a:uLnTx/>
                <a:uFillTx/>
                <a:latin typeface="Hanken Grotesk" panose="020B0604020202020204" pitchFamily="34" charset="0"/>
                <a:ea typeface="Hanken Grotesk"/>
                <a:cs typeface="Hanken Grotesk" panose="020B0604020202020204" pitchFamily="34" charset="0"/>
                <a:sym typeface="Hanken Grotesk"/>
              </a:rPr>
              <a:t>Team WoW Commitment Mapping </a:t>
            </a:r>
            <a:r>
              <a:rPr kumimoji="0" lang="en-GB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ken Grotesk" panose="020B0604020202020204" pitchFamily="34" charset="0"/>
                <a:ea typeface="Hanken Grotesk"/>
                <a:cs typeface="Hanken Grotesk" panose="020B0604020202020204" pitchFamily="34" charset="0"/>
                <a:sym typeface="Hanken Grotesk"/>
              </a:rPr>
              <a:t>exercise to agree your joint team goals and commitments and how to incorporate these into your everyday work, i.e. these will be your </a:t>
            </a:r>
            <a:r>
              <a:rPr kumimoji="0" lang="en-GB" sz="2000" b="1" i="0" u="none" strike="noStrike" kern="0" cap="none" spc="0" normalizeH="0" baseline="0" noProof="0">
                <a:ln>
                  <a:noFill/>
                </a:ln>
                <a:solidFill>
                  <a:srgbClr val="1FC489"/>
                </a:solidFill>
                <a:effectLst/>
                <a:uLnTx/>
                <a:uFillTx/>
                <a:latin typeface="Hanken Grotesk" panose="020B0604020202020204" pitchFamily="34" charset="0"/>
                <a:ea typeface="Hanken Grotesk"/>
                <a:cs typeface="Hanken Grotesk" panose="020B0604020202020204" pitchFamily="34" charset="0"/>
                <a:sym typeface="Hanken Grotesk"/>
              </a:rPr>
              <a:t>Ways of Working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nken Grotesk" panose="020B0604020202020204" pitchFamily="34" charset="0"/>
              <a:ea typeface="+mn-ea"/>
              <a:cs typeface="Hanken Grotesk" panose="020B0604020202020204" pitchFamily="34" charset="0"/>
              <a:sym typeface="Hanken Grotesk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1" i="0" u="none" strike="noStrike" kern="1200" cap="none" spc="0" normalizeH="0" baseline="0" noProof="0">
              <a:ln>
                <a:noFill/>
              </a:ln>
              <a:solidFill>
                <a:srgbClr val="0E9B6A"/>
              </a:solidFill>
              <a:effectLst/>
              <a:uLnTx/>
              <a:uFillTx/>
              <a:latin typeface="Hanken Grotesk" panose="020B0604020202020204" pitchFamily="34" charset="0"/>
              <a:ea typeface="Hanken Grotesk"/>
              <a:cs typeface="Hanken Grotesk" panose="020B0604020202020204" pitchFamily="34" charset="0"/>
              <a:sym typeface="Hanken Grotesk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98ED73-2DE1-E440-CC28-E31D4971E5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8990" y="116958"/>
            <a:ext cx="2035517" cy="12759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A96CA6-E95F-9F00-E3AE-1CDE064B2DC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79" t="6573" r="132" b="6338"/>
          <a:stretch>
            <a:fillRect/>
          </a:stretch>
        </p:blipFill>
        <p:spPr>
          <a:xfrm>
            <a:off x="1189789" y="2272565"/>
            <a:ext cx="9277928" cy="450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25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>
          <a:extLst>
            <a:ext uri="{FF2B5EF4-FFF2-40B4-BE49-F238E27FC236}">
              <a16:creationId xmlns:a16="http://schemas.microsoft.com/office/drawing/2014/main" id="{4FC9D930-4FFD-12F2-5DE9-09F6DF759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E9D942-4FB6-64C7-8F5F-0AA87F7088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79" t="6573" r="132" b="6338"/>
          <a:stretch>
            <a:fillRect/>
          </a:stretch>
        </p:blipFill>
        <p:spPr>
          <a:xfrm>
            <a:off x="641684" y="1510566"/>
            <a:ext cx="10467716" cy="5228902"/>
          </a:xfrm>
          <a:prstGeom prst="rect">
            <a:avLst/>
          </a:prstGeom>
        </p:spPr>
      </p:pic>
      <p:pic>
        <p:nvPicPr>
          <p:cNvPr id="839" name="Google Shape;839;p17">
            <a:extLst>
              <a:ext uri="{FF2B5EF4-FFF2-40B4-BE49-F238E27FC236}">
                <a16:creationId xmlns:a16="http://schemas.microsoft.com/office/drawing/2014/main" id="{D46FBF42-4C32-BBCF-BFD3-098EEF015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49260" b="10206"/>
          <a:stretch/>
        </p:blipFill>
        <p:spPr>
          <a:xfrm>
            <a:off x="1712417" y="2008528"/>
            <a:ext cx="2187324" cy="400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7">
            <a:extLst>
              <a:ext uri="{FF2B5EF4-FFF2-40B4-BE49-F238E27FC236}">
                <a16:creationId xmlns:a16="http://schemas.microsoft.com/office/drawing/2014/main" id="{2CC5EE03-7D5A-9728-4014-C03FE6E9F33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r="23057"/>
          <a:stretch/>
        </p:blipFill>
        <p:spPr>
          <a:xfrm>
            <a:off x="1051103" y="3417828"/>
            <a:ext cx="3509952" cy="47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7">
            <a:extLst>
              <a:ext uri="{FF2B5EF4-FFF2-40B4-BE49-F238E27FC236}">
                <a16:creationId xmlns:a16="http://schemas.microsoft.com/office/drawing/2014/main" id="{09DF323E-4BB3-7F4E-D61D-7F6BE418AC8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r="15619"/>
          <a:stretch/>
        </p:blipFill>
        <p:spPr>
          <a:xfrm>
            <a:off x="3297493" y="3885381"/>
            <a:ext cx="3880626" cy="47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7">
            <a:extLst>
              <a:ext uri="{FF2B5EF4-FFF2-40B4-BE49-F238E27FC236}">
                <a16:creationId xmlns:a16="http://schemas.microsoft.com/office/drawing/2014/main" id="{0C3D2971-250E-07F1-0F9B-43708259938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r="38783"/>
          <a:stretch/>
        </p:blipFill>
        <p:spPr>
          <a:xfrm>
            <a:off x="5910101" y="4450270"/>
            <a:ext cx="2651955" cy="451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7">
            <a:extLst>
              <a:ext uri="{FF2B5EF4-FFF2-40B4-BE49-F238E27FC236}">
                <a16:creationId xmlns:a16="http://schemas.microsoft.com/office/drawing/2014/main" id="{A980AF4F-6577-3B1B-D5C0-69BCD21E7CD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r="47764"/>
          <a:stretch/>
        </p:blipFill>
        <p:spPr>
          <a:xfrm>
            <a:off x="8566951" y="4847300"/>
            <a:ext cx="2295249" cy="454173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17">
            <a:extLst>
              <a:ext uri="{FF2B5EF4-FFF2-40B4-BE49-F238E27FC236}">
                <a16:creationId xmlns:a16="http://schemas.microsoft.com/office/drawing/2014/main" id="{B4EAD756-39BF-3BF9-12DF-0859B23B1C71}"/>
              </a:ext>
            </a:extLst>
          </p:cNvPr>
          <p:cNvSpPr/>
          <p:nvPr/>
        </p:nvSpPr>
        <p:spPr>
          <a:xfrm rot="-5400000">
            <a:off x="6186109" y="971198"/>
            <a:ext cx="268447" cy="9083734"/>
          </a:xfrm>
          <a:prstGeom prst="downArrow">
            <a:avLst>
              <a:gd name="adj1" fmla="val 75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45" name="Google Shape;845;p17">
            <a:extLst>
              <a:ext uri="{FF2B5EF4-FFF2-40B4-BE49-F238E27FC236}">
                <a16:creationId xmlns:a16="http://schemas.microsoft.com/office/drawing/2014/main" id="{11702CA3-50FE-4104-3629-55FE2AFF606A}"/>
              </a:ext>
            </a:extLst>
          </p:cNvPr>
          <p:cNvSpPr txBox="1"/>
          <p:nvPr/>
        </p:nvSpPr>
        <p:spPr>
          <a:xfrm>
            <a:off x="5427352" y="5356589"/>
            <a:ext cx="181234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FORWARD pass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sp>
        <p:nvSpPr>
          <p:cNvPr id="846" name="Google Shape;846;p17">
            <a:extLst>
              <a:ext uri="{FF2B5EF4-FFF2-40B4-BE49-F238E27FC236}">
                <a16:creationId xmlns:a16="http://schemas.microsoft.com/office/drawing/2014/main" id="{260DD563-6AA8-4D51-CE6B-B1B19228075A}"/>
              </a:ext>
            </a:extLst>
          </p:cNvPr>
          <p:cNvSpPr txBox="1"/>
          <p:nvPr/>
        </p:nvSpPr>
        <p:spPr>
          <a:xfrm>
            <a:off x="7050488" y="5689355"/>
            <a:ext cx="138020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REVERSE pass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sp>
        <p:nvSpPr>
          <p:cNvPr id="847" name="Google Shape;847;p17">
            <a:extLst>
              <a:ext uri="{FF2B5EF4-FFF2-40B4-BE49-F238E27FC236}">
                <a16:creationId xmlns:a16="http://schemas.microsoft.com/office/drawing/2014/main" id="{8B2A1797-F646-9FE1-AFF0-5316643E6903}"/>
              </a:ext>
            </a:extLst>
          </p:cNvPr>
          <p:cNvSpPr txBox="1"/>
          <p:nvPr/>
        </p:nvSpPr>
        <p:spPr>
          <a:xfrm>
            <a:off x="9454643" y="5685323"/>
            <a:ext cx="138020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REVERSE pass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pic>
        <p:nvPicPr>
          <p:cNvPr id="848" name="Google Shape;848;p17">
            <a:extLst>
              <a:ext uri="{FF2B5EF4-FFF2-40B4-BE49-F238E27FC236}">
                <a16:creationId xmlns:a16="http://schemas.microsoft.com/office/drawing/2014/main" id="{F7E311E1-2E99-054D-D147-6978CCBFAEBE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r="37480"/>
          <a:stretch/>
        </p:blipFill>
        <p:spPr>
          <a:xfrm>
            <a:off x="5872178" y="6143804"/>
            <a:ext cx="2749386" cy="458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17">
            <a:extLst>
              <a:ext uri="{FF2B5EF4-FFF2-40B4-BE49-F238E27FC236}">
                <a16:creationId xmlns:a16="http://schemas.microsoft.com/office/drawing/2014/main" id="{0C08A056-7D3D-A761-B64C-3B5C546E45E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 r="47186"/>
          <a:stretch/>
        </p:blipFill>
        <p:spPr>
          <a:xfrm>
            <a:off x="8562056" y="6136040"/>
            <a:ext cx="2461365" cy="48171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042D42-291A-2F4D-B838-D6A50F9F5C8A}"/>
              </a:ext>
            </a:extLst>
          </p:cNvPr>
          <p:cNvSpPr txBox="1"/>
          <p:nvPr/>
        </p:nvSpPr>
        <p:spPr>
          <a:xfrm>
            <a:off x="2516957" y="254044"/>
            <a:ext cx="9675044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1FC489"/>
                </a:solidFill>
                <a:effectLst/>
                <a:uLnTx/>
                <a:uFillTx/>
                <a:latin typeface="Schibsted Grotesk" pitchFamily="2" charset="77"/>
                <a:ea typeface="+mn-ea"/>
                <a:cs typeface="Schibsted Grotesk" pitchFamily="2" charset="77"/>
                <a:sym typeface="Hanken Grotesk"/>
              </a:rPr>
              <a:t>One Team Definition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D4FAD2-E41F-E24D-10EE-EF8448D0816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48990" y="116958"/>
            <a:ext cx="2035517" cy="127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277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3F8655-21A4-5E6C-5528-FB949DC08880}"/>
              </a:ext>
            </a:extLst>
          </p:cNvPr>
          <p:cNvSpPr/>
          <p:nvPr/>
        </p:nvSpPr>
        <p:spPr>
          <a:xfrm>
            <a:off x="0" y="0"/>
            <a:ext cx="2378410" cy="65177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ken Grotesk" panose="020F0502020204030204"/>
              <a:ea typeface="+mn-ea"/>
              <a:cs typeface="+mn-cs"/>
              <a:sym typeface="Hanken Grotesk"/>
            </a:endParaRPr>
          </a:p>
        </p:txBody>
      </p:sp>
      <p:sp>
        <p:nvSpPr>
          <p:cNvPr id="854" name="Google Shape;854;p18"/>
          <p:cNvSpPr/>
          <p:nvPr/>
        </p:nvSpPr>
        <p:spPr>
          <a:xfrm>
            <a:off x="11914964" y="547700"/>
            <a:ext cx="148405" cy="50645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855" name="Google Shape;85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9706" y="1621920"/>
            <a:ext cx="472706" cy="472706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18"/>
          <p:cNvSpPr txBox="1">
            <a:spLocks noGrp="1"/>
          </p:cNvSpPr>
          <p:nvPr>
            <p:ph type="title"/>
          </p:nvPr>
        </p:nvSpPr>
        <p:spPr>
          <a:xfrm>
            <a:off x="426027" y="45302"/>
            <a:ext cx="1133994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36000" bIns="45700" anchor="t" anchorCtr="0">
            <a:spAutoFit/>
          </a:bodyPr>
          <a:lstStyle/>
          <a:p>
            <a:pPr>
              <a:lnSpc>
                <a:spcPct val="100000"/>
              </a:lnSpc>
              <a:buClrTx/>
              <a:buSzTx/>
              <a:defRPr/>
            </a:pPr>
            <a:r>
              <a:rPr lang="en-GB" sz="4000" b="1">
                <a:solidFill>
                  <a:srgbClr val="1FC489"/>
                </a:solidFill>
                <a:latin typeface="Schibsted Grotesk" pitchFamily="2" charset="77"/>
                <a:ea typeface="+mn-ea"/>
                <a:cs typeface="Schibsted Grotesk" pitchFamily="2" charset="77"/>
                <a:sym typeface="Hanken Grotesk"/>
              </a:rPr>
              <a:t>Example Team WoW Commitment Map</a:t>
            </a:r>
            <a:endParaRPr sz="4000" b="1">
              <a:solidFill>
                <a:srgbClr val="1FC489"/>
              </a:solidFill>
              <a:latin typeface="Schibsted Grotesk" pitchFamily="2" charset="77"/>
              <a:ea typeface="+mn-ea"/>
              <a:cs typeface="Schibsted Grotesk" pitchFamily="2" charset="77"/>
              <a:sym typeface="Hanken Grotesk"/>
            </a:endParaRPr>
          </a:p>
        </p:txBody>
      </p:sp>
      <p:sp>
        <p:nvSpPr>
          <p:cNvPr id="857" name="Google Shape;857;p18"/>
          <p:cNvSpPr/>
          <p:nvPr/>
        </p:nvSpPr>
        <p:spPr>
          <a:xfrm>
            <a:off x="459583" y="1635853"/>
            <a:ext cx="2723626" cy="4544608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58" name="Google Shape;858;p18"/>
          <p:cNvSpPr/>
          <p:nvPr/>
        </p:nvSpPr>
        <p:spPr>
          <a:xfrm>
            <a:off x="3360633" y="1635853"/>
            <a:ext cx="2723626" cy="4544608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59" name="Google Shape;859;p18"/>
          <p:cNvSpPr/>
          <p:nvPr/>
        </p:nvSpPr>
        <p:spPr>
          <a:xfrm>
            <a:off x="6304470" y="1635853"/>
            <a:ext cx="2723626" cy="4544608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60" name="Google Shape;860;p18"/>
          <p:cNvSpPr/>
          <p:nvPr/>
        </p:nvSpPr>
        <p:spPr>
          <a:xfrm>
            <a:off x="9264242" y="1635853"/>
            <a:ext cx="2723626" cy="4544608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61" name="Google Shape;861;p18"/>
          <p:cNvSpPr txBox="1"/>
          <p:nvPr/>
        </p:nvSpPr>
        <p:spPr>
          <a:xfrm>
            <a:off x="532487" y="1691732"/>
            <a:ext cx="22442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Joint Objectives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sp>
        <p:nvSpPr>
          <p:cNvPr id="862" name="Google Shape;862;p18"/>
          <p:cNvSpPr txBox="1"/>
          <p:nvPr/>
        </p:nvSpPr>
        <p:spPr>
          <a:xfrm>
            <a:off x="532487" y="2018015"/>
            <a:ext cx="265072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400" b="1" i="1" u="none" strike="noStrike" kern="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What do you want to achieve together?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sp>
        <p:nvSpPr>
          <p:cNvPr id="863" name="Google Shape;863;p18"/>
          <p:cNvSpPr txBox="1"/>
          <p:nvPr/>
        </p:nvSpPr>
        <p:spPr>
          <a:xfrm>
            <a:off x="3417602" y="1691732"/>
            <a:ext cx="22442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Joint Commitments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sp>
        <p:nvSpPr>
          <p:cNvPr id="864" name="Google Shape;864;p18"/>
          <p:cNvSpPr txBox="1"/>
          <p:nvPr/>
        </p:nvSpPr>
        <p:spPr>
          <a:xfrm>
            <a:off x="3417602" y="2018015"/>
            <a:ext cx="265072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400" b="1" i="1" u="none" strike="noStrike" kern="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How will you work together?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400" b="1" i="1" u="none" strike="noStrike" kern="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What will you do more of?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400" b="1" i="1" u="none" strike="noStrike" kern="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What will you do less of?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sp>
        <p:nvSpPr>
          <p:cNvPr id="865" name="Google Shape;865;p18"/>
          <p:cNvSpPr txBox="1"/>
          <p:nvPr/>
        </p:nvSpPr>
        <p:spPr>
          <a:xfrm>
            <a:off x="6377374" y="2018015"/>
            <a:ext cx="265072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400" b="1" i="1" u="none" strike="noStrike" kern="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What resources do you need?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sp>
        <p:nvSpPr>
          <p:cNvPr id="866" name="Google Shape;866;p18"/>
          <p:cNvSpPr txBox="1"/>
          <p:nvPr/>
        </p:nvSpPr>
        <p:spPr>
          <a:xfrm>
            <a:off x="9264242" y="2004098"/>
            <a:ext cx="265072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400" b="1" i="1" u="none" strike="noStrike" kern="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What obstacles are there?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sp>
        <p:nvSpPr>
          <p:cNvPr id="867" name="Google Shape;867;p18"/>
          <p:cNvSpPr txBox="1"/>
          <p:nvPr/>
        </p:nvSpPr>
        <p:spPr>
          <a:xfrm>
            <a:off x="6377374" y="1691732"/>
            <a:ext cx="22442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Joint Resources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sp>
        <p:nvSpPr>
          <p:cNvPr id="868" name="Google Shape;868;p18"/>
          <p:cNvSpPr txBox="1"/>
          <p:nvPr/>
        </p:nvSpPr>
        <p:spPr>
          <a:xfrm>
            <a:off x="9264242" y="1691732"/>
            <a:ext cx="22442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Joint Risks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pic>
        <p:nvPicPr>
          <p:cNvPr id="869" name="Google Shape;869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35777" y="1691732"/>
            <a:ext cx="369332" cy="369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15866" y="1695276"/>
            <a:ext cx="365788" cy="365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21456" y="1700998"/>
            <a:ext cx="378073" cy="378073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18"/>
          <p:cNvSpPr/>
          <p:nvPr/>
        </p:nvSpPr>
        <p:spPr>
          <a:xfrm>
            <a:off x="462480" y="744651"/>
            <a:ext cx="8565615" cy="751492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73" name="Google Shape;873;p18"/>
          <p:cNvSpPr txBox="1"/>
          <p:nvPr/>
        </p:nvSpPr>
        <p:spPr>
          <a:xfrm>
            <a:off x="462481" y="744649"/>
            <a:ext cx="22442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Font typeface="Hanken Grotesk"/>
              <a:defRPr/>
            </a:pPr>
            <a:r>
              <a:rPr lang="en-GB" b="1" kern="0">
                <a:solidFill>
                  <a:srgbClr val="0E9B6A"/>
                </a:solidFill>
                <a:latin typeface="Hanken Grotesk"/>
                <a:ea typeface="Hanken Grotesk"/>
                <a:cs typeface="Hanken Grotesk"/>
              </a:rPr>
              <a:t>Primary Task</a:t>
            </a:r>
            <a:endParaRPr lang="en-GB" b="1" i="0" u="none" strike="noStrike" kern="0" cap="none" spc="0" normalizeH="0" baseline="0" noProof="0">
              <a:ln>
                <a:noFill/>
              </a:ln>
              <a:solidFill>
                <a:srgbClr val="0E9B6A"/>
              </a:solidFill>
              <a:effectLst/>
              <a:uLnTx/>
              <a:uFillTx/>
              <a:latin typeface="Hanken Grotesk"/>
              <a:ea typeface="Hanken Grotesk"/>
              <a:cs typeface="Hanken Grotesk"/>
            </a:endParaRPr>
          </a:p>
        </p:txBody>
      </p:sp>
      <p:sp>
        <p:nvSpPr>
          <p:cNvPr id="874" name="Google Shape;874;p18"/>
          <p:cNvSpPr txBox="1"/>
          <p:nvPr/>
        </p:nvSpPr>
        <p:spPr>
          <a:xfrm>
            <a:off x="1735671" y="777721"/>
            <a:ext cx="729242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400" b="1" i="1" u="none" strike="noStrike" kern="0" cap="none" spc="0" normalizeH="0" baseline="0" noProof="0" dirty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Why do you want to agree team commitments?  What will be different once you have?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sp>
        <p:nvSpPr>
          <p:cNvPr id="875" name="Google Shape;875;p18"/>
          <p:cNvSpPr/>
          <p:nvPr/>
        </p:nvSpPr>
        <p:spPr>
          <a:xfrm>
            <a:off x="9264242" y="750619"/>
            <a:ext cx="2723626" cy="751492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76" name="Google Shape;876;p18"/>
          <p:cNvSpPr txBox="1"/>
          <p:nvPr/>
        </p:nvSpPr>
        <p:spPr>
          <a:xfrm>
            <a:off x="9239391" y="721430"/>
            <a:ext cx="22442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Date Set: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sp>
        <p:nvSpPr>
          <p:cNvPr id="877" name="Google Shape;877;p18"/>
          <p:cNvSpPr txBox="1"/>
          <p:nvPr/>
        </p:nvSpPr>
        <p:spPr>
          <a:xfrm>
            <a:off x="9239390" y="1050174"/>
            <a:ext cx="22442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Next Review: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sp>
        <p:nvSpPr>
          <p:cNvPr id="878" name="Google Shape;878;p18"/>
          <p:cNvSpPr/>
          <p:nvPr/>
        </p:nvSpPr>
        <p:spPr>
          <a:xfrm rot="10800000" flipH="1">
            <a:off x="8645919" y="5595567"/>
            <a:ext cx="268447" cy="478172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79" name="Google Shape;879;p18"/>
          <p:cNvSpPr/>
          <p:nvPr/>
        </p:nvSpPr>
        <p:spPr>
          <a:xfrm rot="10800000" flipH="1">
            <a:off x="11598193" y="5595567"/>
            <a:ext cx="268447" cy="478172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0" name="Google Shape;880;p18"/>
          <p:cNvSpPr txBox="1"/>
          <p:nvPr/>
        </p:nvSpPr>
        <p:spPr>
          <a:xfrm>
            <a:off x="475899" y="1105554"/>
            <a:ext cx="8170020" cy="28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204C56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To empower countries to treat more patients than ever before and improve patient outcomes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sp>
        <p:nvSpPr>
          <p:cNvPr id="881" name="Google Shape;881;p18"/>
          <p:cNvSpPr txBox="1"/>
          <p:nvPr/>
        </p:nvSpPr>
        <p:spPr>
          <a:xfrm>
            <a:off x="501066" y="2790227"/>
            <a:ext cx="265072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204C56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Everyone knows their role in the team and what they can contribute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sp>
        <p:nvSpPr>
          <p:cNvPr id="882" name="Google Shape;882;p18"/>
          <p:cNvSpPr txBox="1"/>
          <p:nvPr/>
        </p:nvSpPr>
        <p:spPr>
          <a:xfrm>
            <a:off x="3417601" y="3663117"/>
            <a:ext cx="265072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204C56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The team will only use Teams to communicate; emails will be kept to a minimum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sp>
        <p:nvSpPr>
          <p:cNvPr id="883" name="Google Shape;883;p18"/>
          <p:cNvSpPr txBox="1"/>
          <p:nvPr/>
        </p:nvSpPr>
        <p:spPr>
          <a:xfrm>
            <a:off x="501066" y="3663117"/>
            <a:ext cx="265072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204C56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The team has agreed the best way to communicate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sp>
        <p:nvSpPr>
          <p:cNvPr id="884" name="Google Shape;884;p18"/>
          <p:cNvSpPr txBox="1"/>
          <p:nvPr/>
        </p:nvSpPr>
        <p:spPr>
          <a:xfrm>
            <a:off x="3417601" y="4850562"/>
            <a:ext cx="265072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204C56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Conflicts within the team will be addressed by the entire team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sp>
        <p:nvSpPr>
          <p:cNvPr id="885" name="Google Shape;885;p18"/>
          <p:cNvSpPr txBox="1"/>
          <p:nvPr/>
        </p:nvSpPr>
        <p:spPr>
          <a:xfrm>
            <a:off x="6348888" y="3663117"/>
            <a:ext cx="265072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204C56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We have no time as a team to give one another feedback properly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sp>
        <p:nvSpPr>
          <p:cNvPr id="886" name="Google Shape;886;p18"/>
          <p:cNvSpPr txBox="1"/>
          <p:nvPr/>
        </p:nvSpPr>
        <p:spPr>
          <a:xfrm>
            <a:off x="10589603" y="1093807"/>
            <a:ext cx="147376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kern="0">
                <a:solidFill>
                  <a:srgbClr val="204C56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January 2027</a:t>
            </a:r>
            <a:endParaRPr lang="en-US"/>
          </a:p>
        </p:txBody>
      </p:sp>
      <p:sp>
        <p:nvSpPr>
          <p:cNvPr id="887" name="Google Shape;887;p18"/>
          <p:cNvSpPr txBox="1"/>
          <p:nvPr/>
        </p:nvSpPr>
        <p:spPr>
          <a:xfrm>
            <a:off x="9328452" y="3663117"/>
            <a:ext cx="265072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204C56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The team can collaborate and communicate freely, but are afraid to tackle conflicts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sp>
        <p:nvSpPr>
          <p:cNvPr id="888" name="Google Shape;888;p18"/>
          <p:cNvSpPr/>
          <p:nvPr/>
        </p:nvSpPr>
        <p:spPr>
          <a:xfrm rot="-401101">
            <a:off x="5850883" y="4447319"/>
            <a:ext cx="3522782" cy="290948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E9B6A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9" name="Google Shape;889;p18"/>
          <p:cNvSpPr txBox="1"/>
          <p:nvPr/>
        </p:nvSpPr>
        <p:spPr>
          <a:xfrm>
            <a:off x="465097" y="4850562"/>
            <a:ext cx="265072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204C56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The team agrees not to let issues linger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cxnSp>
        <p:nvCxnSpPr>
          <p:cNvPr id="890" name="Google Shape;890;p18"/>
          <p:cNvCxnSpPr/>
          <p:nvPr/>
        </p:nvCxnSpPr>
        <p:spPr>
          <a:xfrm>
            <a:off x="9459400" y="3649450"/>
            <a:ext cx="2273016" cy="763568"/>
          </a:xfrm>
          <a:prstGeom prst="straightConnector1">
            <a:avLst/>
          </a:prstGeom>
          <a:noFill/>
          <a:ln w="38100" cap="flat" cmpd="sng">
            <a:solidFill>
              <a:srgbClr val="0E9B6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91" name="Google Shape;891;p18"/>
          <p:cNvCxnSpPr/>
          <p:nvPr/>
        </p:nvCxnSpPr>
        <p:spPr>
          <a:xfrm rot="10800000" flipH="1">
            <a:off x="9485436" y="3690206"/>
            <a:ext cx="2246980" cy="722812"/>
          </a:xfrm>
          <a:prstGeom prst="straightConnector1">
            <a:avLst/>
          </a:prstGeom>
          <a:noFill/>
          <a:ln w="38100" cap="flat" cmpd="sng">
            <a:solidFill>
              <a:srgbClr val="0E9B6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92" name="Google Shape;892;p18"/>
          <p:cNvSpPr txBox="1"/>
          <p:nvPr/>
        </p:nvSpPr>
        <p:spPr>
          <a:xfrm>
            <a:off x="3398539" y="5597655"/>
            <a:ext cx="265072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204C56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One hour of Cycle Meetings blocked out for feedback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cxnSp>
        <p:nvCxnSpPr>
          <p:cNvPr id="893" name="Google Shape;893;p18"/>
          <p:cNvCxnSpPr/>
          <p:nvPr/>
        </p:nvCxnSpPr>
        <p:spPr>
          <a:xfrm>
            <a:off x="6456062" y="3643021"/>
            <a:ext cx="2273016" cy="763568"/>
          </a:xfrm>
          <a:prstGeom prst="straightConnector1">
            <a:avLst/>
          </a:prstGeom>
          <a:noFill/>
          <a:ln w="38100" cap="flat" cmpd="sng">
            <a:solidFill>
              <a:srgbClr val="0E9B6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94" name="Google Shape;894;p18"/>
          <p:cNvCxnSpPr/>
          <p:nvPr/>
        </p:nvCxnSpPr>
        <p:spPr>
          <a:xfrm rot="10800000" flipH="1">
            <a:off x="6482098" y="3683777"/>
            <a:ext cx="2246980" cy="722812"/>
          </a:xfrm>
          <a:prstGeom prst="straightConnector1">
            <a:avLst/>
          </a:prstGeom>
          <a:noFill/>
          <a:ln w="38100" cap="flat" cmpd="sng">
            <a:solidFill>
              <a:srgbClr val="0E9B6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95" name="Google Shape;895;p18"/>
          <p:cNvSpPr/>
          <p:nvPr/>
        </p:nvSpPr>
        <p:spPr>
          <a:xfrm rot="-3155874">
            <a:off x="5293328" y="4893761"/>
            <a:ext cx="1660700" cy="278092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E9B6A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96" name="Google Shape;896;p18"/>
          <p:cNvSpPr txBox="1"/>
          <p:nvPr/>
        </p:nvSpPr>
        <p:spPr>
          <a:xfrm>
            <a:off x="10187505" y="758090"/>
            <a:ext cx="17465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buClr>
                <a:srgbClr val="000000"/>
              </a:buClr>
              <a:defRPr/>
            </a:pPr>
            <a:r>
              <a:rPr lang="en-GB" sz="1400" b="1" kern="0">
                <a:solidFill>
                  <a:srgbClr val="204C56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September 2026</a:t>
            </a: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sp>
        <p:nvSpPr>
          <p:cNvPr id="897" name="Google Shape;897;p18"/>
          <p:cNvSpPr txBox="1"/>
          <p:nvPr/>
        </p:nvSpPr>
        <p:spPr>
          <a:xfrm>
            <a:off x="3427820" y="2795388"/>
            <a:ext cx="2650723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204C56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The Team agrees all feedback will be given in team meetings, unless it is of a personal nature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sp>
        <p:nvSpPr>
          <p:cNvPr id="898" name="Google Shape;898;p18"/>
          <p:cNvSpPr/>
          <p:nvPr/>
        </p:nvSpPr>
        <p:spPr>
          <a:xfrm rot="10800000">
            <a:off x="3091119" y="4986437"/>
            <a:ext cx="356481" cy="278092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E9B6A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99" name="Google Shape;899;p18"/>
          <p:cNvSpPr/>
          <p:nvPr/>
        </p:nvSpPr>
        <p:spPr>
          <a:xfrm rot="-5400000">
            <a:off x="6059861" y="-2100964"/>
            <a:ext cx="268447" cy="11479996"/>
          </a:xfrm>
          <a:prstGeom prst="downArrow">
            <a:avLst>
              <a:gd name="adj1" fmla="val 75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00" name="Google Shape;900;p18"/>
          <p:cNvSpPr txBox="1"/>
          <p:nvPr/>
        </p:nvSpPr>
        <p:spPr>
          <a:xfrm>
            <a:off x="5508862" y="3494926"/>
            <a:ext cx="23162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FORWARD pass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sp>
        <p:nvSpPr>
          <p:cNvPr id="901" name="Google Shape;901;p18"/>
          <p:cNvSpPr txBox="1"/>
          <p:nvPr/>
        </p:nvSpPr>
        <p:spPr>
          <a:xfrm>
            <a:off x="7594468" y="5699229"/>
            <a:ext cx="138020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REVERSE pass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  <p:sp>
        <p:nvSpPr>
          <p:cNvPr id="902" name="Google Shape;902;p18"/>
          <p:cNvSpPr txBox="1"/>
          <p:nvPr/>
        </p:nvSpPr>
        <p:spPr>
          <a:xfrm>
            <a:off x="10553878" y="5677380"/>
            <a:ext cx="138020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REVERSE pass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9"/>
          <p:cNvSpPr txBox="1">
            <a:spLocks noGrp="1"/>
          </p:cNvSpPr>
          <p:nvPr>
            <p:ph type="title"/>
          </p:nvPr>
        </p:nvSpPr>
        <p:spPr>
          <a:xfrm>
            <a:off x="426027" y="259160"/>
            <a:ext cx="1133994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36000" bIns="4570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9B6A"/>
              </a:buClr>
              <a:buSzPts val="3500"/>
              <a:buFont typeface="Hanken Grotesk"/>
              <a:buNone/>
            </a:pPr>
            <a:r>
              <a:rPr lang="en-GB" sz="3500">
                <a:solidFill>
                  <a:srgbClr val="0E9B6A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	         </a:t>
            </a:r>
            <a:r>
              <a:rPr lang="en-GB" sz="4000" b="1">
                <a:solidFill>
                  <a:srgbClr val="1FC489"/>
                </a:solidFill>
                <a:latin typeface="Schibsted Grotesk" pitchFamily="2" charset="77"/>
                <a:ea typeface="+mn-ea"/>
                <a:cs typeface="Schibsted Grotesk" pitchFamily="2" charset="77"/>
                <a:sym typeface="Hanken Grotesk"/>
              </a:rPr>
              <a:t>Activity: Setting Team Goals</a:t>
            </a:r>
            <a:endParaRPr sz="4000" b="1">
              <a:solidFill>
                <a:srgbClr val="1FC489"/>
              </a:solidFill>
              <a:latin typeface="Schibsted Grotesk" pitchFamily="2" charset="77"/>
              <a:ea typeface="+mn-ea"/>
              <a:cs typeface="Schibsted Grotesk" pitchFamily="2" charset="77"/>
              <a:sym typeface="Hanken Grotesk"/>
            </a:endParaRPr>
          </a:p>
        </p:txBody>
      </p:sp>
      <p:sp>
        <p:nvSpPr>
          <p:cNvPr id="908" name="Google Shape;908;p19"/>
          <p:cNvSpPr txBox="1"/>
          <p:nvPr/>
        </p:nvSpPr>
        <p:spPr>
          <a:xfrm>
            <a:off x="337006" y="1576854"/>
            <a:ext cx="11517988" cy="3016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ken Grotesk" panose="020B0604020202020204" pitchFamily="34" charset="0"/>
                <a:ea typeface="Hanken Grotesk"/>
                <a:cs typeface="Hanken Grotesk" panose="020B0604020202020204" pitchFamily="34" charset="0"/>
                <a:sym typeface="Hanken Grotesk"/>
              </a:rPr>
              <a:t>Using the Team Commitment Map: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endParaRPr kumimoji="0" sz="2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nken Grotesk" panose="020B0604020202020204" pitchFamily="34" charset="0"/>
              <a:ea typeface="Hanken Grotesk"/>
              <a:cs typeface="Hanken Grotesk" panose="020B0604020202020204" pitchFamily="34" charset="0"/>
              <a:sym typeface="Hanken Grotesk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ken Grotesk" panose="020B0604020202020204" pitchFamily="34" charset="0"/>
                <a:ea typeface="Hanken Grotesk"/>
                <a:cs typeface="Hanken Grotesk" panose="020B0604020202020204" pitchFamily="34" charset="0"/>
                <a:sym typeface="Hanken Grotesk"/>
              </a:rPr>
              <a:t>In 2 separate groups, complete the </a:t>
            </a:r>
            <a:r>
              <a:rPr kumimoji="0" lang="en-GB" sz="2400" b="1" i="0" u="none" strike="noStrike" kern="0" cap="none" spc="0" normalizeH="0" baseline="0" noProof="0">
                <a:ln>
                  <a:noFill/>
                </a:ln>
                <a:solidFill>
                  <a:srgbClr val="204C56"/>
                </a:solidFill>
                <a:effectLst/>
                <a:uLnTx/>
                <a:uFillTx/>
                <a:latin typeface="Hanken Grotesk" panose="020B0604020202020204" pitchFamily="34" charset="0"/>
                <a:ea typeface="Hanken Grotesk"/>
                <a:cs typeface="Hanken Grotesk" panose="020B0604020202020204" pitchFamily="34" charset="0"/>
                <a:sym typeface="Hanken Grotesk"/>
              </a:rPr>
              <a:t>forward and reverse pass </a:t>
            </a:r>
            <a:r>
              <a:rPr kumimoji="0" lang="en-GB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ken Grotesk" panose="020B0604020202020204" pitchFamily="34" charset="0"/>
                <a:ea typeface="Hanken Grotesk"/>
                <a:cs typeface="Hanken Grotesk" panose="020B0604020202020204" pitchFamily="34" charset="0"/>
                <a:sym typeface="Hanken Grotesk"/>
              </a:rPr>
              <a:t>of the Team Commitment map (30 mins)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endParaRPr kumimoji="0" lang="en-GB" sz="2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nken Grotesk" panose="020B0604020202020204" pitchFamily="34" charset="0"/>
              <a:ea typeface="Hanken Grotesk"/>
              <a:cs typeface="Hanken Grotesk" panose="020B0604020202020204" pitchFamily="34" charset="0"/>
              <a:sym typeface="Hanken Grotesk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ken Grotesk" panose="020B0604020202020204" pitchFamily="34" charset="0"/>
                <a:ea typeface="Hanken Grotesk"/>
                <a:cs typeface="Hanken Grotesk" panose="020B0604020202020204" pitchFamily="34" charset="0"/>
                <a:sym typeface="Hanken Grotesk"/>
              </a:rPr>
              <a:t>As 1 group, </a:t>
            </a:r>
            <a:r>
              <a:rPr kumimoji="0" lang="en-GB" sz="2400" b="1" i="0" u="none" strike="noStrike" kern="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B0604020202020204" pitchFamily="34" charset="0"/>
                <a:ea typeface="Hanken Grotesk"/>
                <a:cs typeface="Hanken Grotesk" panose="020B0604020202020204" pitchFamily="34" charset="0"/>
                <a:sym typeface="Hanken Grotesk"/>
              </a:rPr>
              <a:t>present back and consolidate </a:t>
            </a:r>
            <a:r>
              <a:rPr kumimoji="0" lang="en-GB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ken Grotesk" panose="020B0604020202020204" pitchFamily="34" charset="0"/>
                <a:ea typeface="Hanken Grotesk"/>
                <a:cs typeface="Hanken Grotesk" panose="020B0604020202020204" pitchFamily="34" charset="0"/>
                <a:sym typeface="Hanken Grotesk"/>
              </a:rPr>
              <a:t>(</a:t>
            </a:r>
            <a:r>
              <a:rPr lang="en-GB" sz="2400" b="1">
                <a:solidFill>
                  <a:prstClr val="black"/>
                </a:solidFill>
                <a:latin typeface="Hanken Grotesk" panose="020B0604020202020204" pitchFamily="34" charset="0"/>
                <a:ea typeface="Hanken Grotesk"/>
                <a:cs typeface="Hanken Grotesk" panose="020B0604020202020204" pitchFamily="34" charset="0"/>
                <a:sym typeface="Hanken Grotesk"/>
              </a:rPr>
              <a:t>15</a:t>
            </a:r>
            <a:r>
              <a:rPr kumimoji="0" lang="en-GB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ken Grotesk" panose="020B0604020202020204" pitchFamily="34" charset="0"/>
                <a:ea typeface="Hanken Grotesk"/>
                <a:cs typeface="Hanken Grotesk" panose="020B0604020202020204" pitchFamily="34" charset="0"/>
                <a:sym typeface="Hanken Grotesk"/>
              </a:rPr>
              <a:t> mins).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ken Grotesk" panose="020B0604020202020204" pitchFamily="34" charset="0"/>
                <a:ea typeface="Hanken Grotesk"/>
                <a:cs typeface="Hanken Grotesk" panose="020B0604020202020204" pitchFamily="34" charset="0"/>
                <a:sym typeface="Hanken Grotesk"/>
              </a:rPr>
              <a:t>Aim to have 3-5 Objectives and 5-7 Commitments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nken Grotesk" panose="020B0604020202020204" pitchFamily="34" charset="0"/>
              <a:cs typeface="Hanken Grotesk" panose="020B0604020202020204" pitchFamily="34" charset="0"/>
              <a:sym typeface="Hanken Grotesk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endParaRPr kumimoji="0" sz="2200" b="1" i="0" u="none" strike="noStrike" kern="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3">
          <a:extLst>
            <a:ext uri="{FF2B5EF4-FFF2-40B4-BE49-F238E27FC236}">
              <a16:creationId xmlns:a16="http://schemas.microsoft.com/office/drawing/2014/main" id="{CF22DA53-6506-59B2-84D9-878223AD3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">
            <a:extLst>
              <a:ext uri="{FF2B5EF4-FFF2-40B4-BE49-F238E27FC236}">
                <a16:creationId xmlns:a16="http://schemas.microsoft.com/office/drawing/2014/main" id="{EEE3B350-0148-FC33-45E0-0EF4CDAF9A3B}"/>
              </a:ext>
            </a:extLst>
          </p:cNvPr>
          <p:cNvSpPr txBox="1"/>
          <p:nvPr/>
        </p:nvSpPr>
        <p:spPr>
          <a:xfrm>
            <a:off x="2995928" y="291773"/>
            <a:ext cx="7988771" cy="707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>
                <a:ln>
                  <a:noFill/>
                </a:ln>
                <a:solidFill>
                  <a:srgbClr val="1FC489"/>
                </a:solidFill>
                <a:effectLst/>
                <a:uLnTx/>
                <a:uFillTx/>
                <a:latin typeface="Schibsted Grotesk"/>
                <a:ea typeface="Schibsted Grotesk"/>
                <a:cs typeface="Schibsted Grotesk"/>
                <a:sym typeface="Schibsted Grotesk"/>
              </a:rPr>
              <a:t>Team Commitment Map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graphicFrame>
        <p:nvGraphicFramePr>
          <p:cNvPr id="2" name="Google Shape;535;p4">
            <a:extLst>
              <a:ext uri="{FF2B5EF4-FFF2-40B4-BE49-F238E27FC236}">
                <a16:creationId xmlns:a16="http://schemas.microsoft.com/office/drawing/2014/main" id="{8028D003-8B2E-A181-6F19-242DC3D6C80B}"/>
              </a:ext>
            </a:extLst>
          </p:cNvPr>
          <p:cNvGraphicFramePr/>
          <p:nvPr/>
        </p:nvGraphicFramePr>
        <p:xfrm>
          <a:off x="4139692" y="2645198"/>
          <a:ext cx="1500400" cy="214125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5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Hanken Grotesk"/>
                        <a:buNone/>
                      </a:pPr>
                      <a:r>
                        <a:rPr lang="en-GB" sz="2000" b="0" i="0" u="none" strike="noStrike" cap="none">
                          <a:solidFill>
                            <a:srgbClr val="000000"/>
                          </a:solidFill>
                          <a:latin typeface="Hanken Grotesk"/>
                          <a:cs typeface="Hanken Grotesk"/>
                          <a:sym typeface="Hanken Grotesk"/>
                        </a:rPr>
                        <a:t>xx</a:t>
                      </a:r>
                      <a:endParaRPr/>
                    </a:p>
                  </a:txBody>
                  <a:tcPr marL="6350" marR="6350" marT="6350" marB="45725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Hanken Grotesk"/>
                        <a:buNone/>
                      </a:pPr>
                      <a:r>
                        <a:rPr lang="en-GB" sz="2000" b="0" i="0" u="none" strike="noStrike" cap="none">
                          <a:solidFill>
                            <a:srgbClr val="000000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xx</a:t>
                      </a:r>
                    </a:p>
                  </a:txBody>
                  <a:tcPr marL="6350" marR="6350" marT="6350" marB="45725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Hanken Grotesk"/>
                        <a:buNone/>
                      </a:pPr>
                      <a:r>
                        <a:rPr lang="en-GB" sz="2000" b="0" i="0" u="none" strike="noStrike" cap="none">
                          <a:solidFill>
                            <a:srgbClr val="000000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xxx</a:t>
                      </a:r>
                    </a:p>
                  </a:txBody>
                  <a:tcPr marL="6350" marR="6350" marT="6350" marB="45725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4187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Hanken Grotesk"/>
                        <a:buNone/>
                      </a:pPr>
                      <a:r>
                        <a:rPr lang="en-GB" sz="2000" b="0" i="0" u="none" strike="noStrike" cap="none">
                          <a:solidFill>
                            <a:srgbClr val="000000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xx</a:t>
                      </a:r>
                    </a:p>
                  </a:txBody>
                  <a:tcPr marL="6350" marR="6350" marT="6350" marB="45725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7814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Hanken Grotesk"/>
                        <a:buNone/>
                      </a:pPr>
                      <a:endParaRPr lang="en-GB" sz="2000" b="0" i="0" u="none" strike="noStrike" cap="none">
                        <a:solidFill>
                          <a:srgbClr val="000000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6350" marR="6350" marT="6350" marB="45725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6735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Hanken Grotesk"/>
                        <a:buNone/>
                      </a:pPr>
                      <a:endParaRPr lang="en-GB" sz="2000" b="0" i="0" u="none" strike="noStrike" cap="none">
                        <a:solidFill>
                          <a:srgbClr val="000000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6350" marR="6350" marT="6350" marB="45725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46913"/>
                  </a:ext>
                </a:extLst>
              </a:tr>
            </a:tbl>
          </a:graphicData>
        </a:graphic>
      </p:graphicFrame>
      <p:graphicFrame>
        <p:nvGraphicFramePr>
          <p:cNvPr id="3" name="Google Shape;539;p4">
            <a:extLst>
              <a:ext uri="{FF2B5EF4-FFF2-40B4-BE49-F238E27FC236}">
                <a16:creationId xmlns:a16="http://schemas.microsoft.com/office/drawing/2014/main" id="{38C4E35D-A659-4CDA-1E8A-5964D091699C}"/>
              </a:ext>
            </a:extLst>
          </p:cNvPr>
          <p:cNvGraphicFramePr/>
          <p:nvPr/>
        </p:nvGraphicFramePr>
        <p:xfrm>
          <a:off x="7058254" y="2645198"/>
          <a:ext cx="1337100" cy="214125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33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Hanken Grotesk"/>
                        <a:buNone/>
                      </a:pPr>
                      <a:r>
                        <a:rPr lang="en-GB" sz="2000" b="0" i="0" u="none" strike="noStrike" cap="none">
                          <a:solidFill>
                            <a:srgbClr val="000000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xx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6350" marR="6350" marT="6350" marB="45725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Hanken Grotesk"/>
                        <a:buNone/>
                      </a:pPr>
                      <a:r>
                        <a:rPr lang="en-GB" sz="2000" b="0" i="0" u="none" strike="noStrike" cap="none">
                          <a:solidFill>
                            <a:srgbClr val="000000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xx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6350" marR="6350" marT="6350" marB="45725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Hanken Grotesk"/>
                        <a:buNone/>
                      </a:pPr>
                      <a:r>
                        <a:rPr lang="en-GB" sz="2000" b="0" i="0" u="none" strike="noStrike" cap="none">
                          <a:solidFill>
                            <a:srgbClr val="000000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xx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6350" marR="6350" marT="6350" marB="45725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Hanken Grotesk"/>
                        <a:buNone/>
                      </a:pPr>
                      <a:r>
                        <a:rPr lang="en-GB" sz="2000" b="0" i="0" u="none" strike="noStrike" cap="none">
                          <a:solidFill>
                            <a:srgbClr val="000000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xx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6350" marR="6350" marT="6350" marB="45725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341272"/>
                  </a:ext>
                </a:extLst>
              </a:tr>
              <a:tr h="202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Hanken Grotesk"/>
                        <a:buNone/>
                      </a:pPr>
                      <a:endParaRPr sz="2000" b="0" i="0" u="none" strike="noStrike" cap="none">
                        <a:solidFill>
                          <a:srgbClr val="000000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6350" marR="6350" marT="6350" marB="45725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3178865"/>
                  </a:ext>
                </a:extLst>
              </a:tr>
              <a:tr h="202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Hanken Grotesk"/>
                        <a:buNone/>
                      </a:pPr>
                      <a:endParaRPr sz="2000" b="0" i="0" u="none" strike="noStrike" cap="none">
                        <a:solidFill>
                          <a:srgbClr val="000000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6350" marR="6350" marT="6350" marB="45725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232649"/>
                  </a:ext>
                </a:extLst>
              </a:tr>
            </a:tbl>
          </a:graphicData>
        </a:graphic>
      </p:graphicFrame>
      <p:sp>
        <p:nvSpPr>
          <p:cNvPr id="4" name="Google Shape;541;p4">
            <a:extLst>
              <a:ext uri="{FF2B5EF4-FFF2-40B4-BE49-F238E27FC236}">
                <a16:creationId xmlns:a16="http://schemas.microsoft.com/office/drawing/2014/main" id="{BBE9CE4F-549B-5F7E-C3E6-C96432DD52B7}"/>
              </a:ext>
            </a:extLst>
          </p:cNvPr>
          <p:cNvSpPr/>
          <p:nvPr/>
        </p:nvSpPr>
        <p:spPr>
          <a:xfrm>
            <a:off x="4570203" y="1852876"/>
            <a:ext cx="642257" cy="664028"/>
          </a:xfrm>
          <a:prstGeom prst="heptagon">
            <a:avLst>
              <a:gd name="hf" fmla="val 102572"/>
              <a:gd name="vf" fmla="val 105210"/>
            </a:avLst>
          </a:prstGeom>
          <a:solidFill>
            <a:srgbClr val="1FC489"/>
          </a:solidFill>
          <a:ln w="12700" cap="flat" cmpd="sng">
            <a:solidFill>
              <a:srgbClr val="204C5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" name="Google Shape;542;p4">
            <a:extLst>
              <a:ext uri="{FF2B5EF4-FFF2-40B4-BE49-F238E27FC236}">
                <a16:creationId xmlns:a16="http://schemas.microsoft.com/office/drawing/2014/main" id="{A0F09896-37C5-C10A-BCDC-B85FA4C11C4D}"/>
              </a:ext>
            </a:extLst>
          </p:cNvPr>
          <p:cNvSpPr/>
          <p:nvPr/>
        </p:nvSpPr>
        <p:spPr>
          <a:xfrm>
            <a:off x="7452648" y="1865695"/>
            <a:ext cx="642257" cy="664028"/>
          </a:xfrm>
          <a:prstGeom prst="heptagon">
            <a:avLst>
              <a:gd name="hf" fmla="val 102572"/>
              <a:gd name="vf" fmla="val 105210"/>
            </a:avLst>
          </a:prstGeom>
          <a:solidFill>
            <a:srgbClr val="1FC489"/>
          </a:solidFill>
          <a:ln w="12700" cap="flat" cmpd="sng">
            <a:solidFill>
              <a:srgbClr val="204C5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" name="Google Shape;547;p4">
            <a:extLst>
              <a:ext uri="{FF2B5EF4-FFF2-40B4-BE49-F238E27FC236}">
                <a16:creationId xmlns:a16="http://schemas.microsoft.com/office/drawing/2014/main" id="{2C5BD191-EB6B-2B9A-A171-CF7648FF6897}"/>
              </a:ext>
            </a:extLst>
          </p:cNvPr>
          <p:cNvSpPr txBox="1"/>
          <p:nvPr/>
        </p:nvSpPr>
        <p:spPr>
          <a:xfrm>
            <a:off x="4701691" y="1932226"/>
            <a:ext cx="37011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2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1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" name="Google Shape;548;p4">
            <a:extLst>
              <a:ext uri="{FF2B5EF4-FFF2-40B4-BE49-F238E27FC236}">
                <a16:creationId xmlns:a16="http://schemas.microsoft.com/office/drawing/2014/main" id="{346B4128-C584-D08C-FBAA-4CA1CD251359}"/>
              </a:ext>
            </a:extLst>
          </p:cNvPr>
          <p:cNvSpPr txBox="1"/>
          <p:nvPr/>
        </p:nvSpPr>
        <p:spPr>
          <a:xfrm>
            <a:off x="7584136" y="1935019"/>
            <a:ext cx="37011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anken Grotesk"/>
              <a:buNone/>
              <a:tabLst/>
              <a:defRPr/>
            </a:pPr>
            <a:r>
              <a:rPr kumimoji="0" lang="en-GB" sz="2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2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  <p:extLst>
      <p:ext uri="{BB962C8B-B14F-4D97-AF65-F5344CB8AC3E}">
        <p14:creationId xmlns:p14="http://schemas.microsoft.com/office/powerpoint/2010/main" val="4101217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7AF30-2C98-1619-2B5F-5F27864B5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A6618719-C509-5650-BD95-2A8A926C8BBA}"/>
              </a:ext>
            </a:extLst>
          </p:cNvPr>
          <p:cNvSpPr/>
          <p:nvPr/>
        </p:nvSpPr>
        <p:spPr>
          <a:xfrm>
            <a:off x="11914964" y="547700"/>
            <a:ext cx="148405" cy="506453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EF018E3-0A27-59FC-E961-67404D8D8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985" y="173796"/>
            <a:ext cx="11339946" cy="577081"/>
          </a:xfrm>
        </p:spPr>
        <p:txBody>
          <a:bodyPr/>
          <a:lstStyle/>
          <a:p>
            <a:r>
              <a:rPr lang="en-GB" sz="3500" kern="0" err="1">
                <a:solidFill>
                  <a:srgbClr val="0E9B6A"/>
                </a:solidFill>
                <a:latin typeface="Hanken Grotesk"/>
                <a:cs typeface="Hanken Grotesk"/>
              </a:rPr>
              <a:t>Bimzelx</a:t>
            </a:r>
            <a:r>
              <a:rPr lang="en-GB" sz="3500" kern="0">
                <a:solidFill>
                  <a:srgbClr val="0E9B6A"/>
                </a:solidFill>
                <a:latin typeface="Hanken Grotesk"/>
                <a:cs typeface="Hanken Grotesk"/>
              </a:rPr>
              <a:t> Patient Community Team Charter</a:t>
            </a:r>
            <a:endParaRPr lang="fr-BE" sz="3500" kern="0">
              <a:solidFill>
                <a:srgbClr val="0E9B6A"/>
              </a:solidFill>
              <a:latin typeface="Hanken Grotesk"/>
              <a:cs typeface="Hanken Grotes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E76A6B-D76A-B954-9228-40A43E982D4D}"/>
              </a:ext>
            </a:extLst>
          </p:cNvPr>
          <p:cNvSpPr/>
          <p:nvPr/>
        </p:nvSpPr>
        <p:spPr>
          <a:xfrm>
            <a:off x="451401" y="2656028"/>
            <a:ext cx="1916362" cy="365050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AC5CCD-281A-6E21-70F3-E4C689B3111C}"/>
              </a:ext>
            </a:extLst>
          </p:cNvPr>
          <p:cNvSpPr/>
          <p:nvPr/>
        </p:nvSpPr>
        <p:spPr>
          <a:xfrm>
            <a:off x="2429480" y="2661044"/>
            <a:ext cx="2723626" cy="364548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0DF965-107F-7961-3743-FFD2839F0508}"/>
              </a:ext>
            </a:extLst>
          </p:cNvPr>
          <p:cNvSpPr txBox="1"/>
          <p:nvPr/>
        </p:nvSpPr>
        <p:spPr>
          <a:xfrm>
            <a:off x="413335" y="2710635"/>
            <a:ext cx="2244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F0502020204030204" pitchFamily="34" charset="0"/>
                <a:ea typeface="+mn-ea"/>
                <a:cs typeface="Hanken Grotesk" panose="020F0502020204030204" pitchFamily="34" charset="0"/>
                <a:sym typeface="Hanken Grotesk"/>
              </a:rPr>
              <a:t>Our Leadership Behaviours we Commit to: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C6467C8-1BE9-038B-BCA3-16FAE7B0746D}"/>
              </a:ext>
            </a:extLst>
          </p:cNvPr>
          <p:cNvSpPr/>
          <p:nvPr/>
        </p:nvSpPr>
        <p:spPr>
          <a:xfrm>
            <a:off x="451401" y="744650"/>
            <a:ext cx="11525387" cy="83408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E4B493-797A-629F-6AF6-D69AAC584FDF}"/>
              </a:ext>
            </a:extLst>
          </p:cNvPr>
          <p:cNvSpPr txBox="1"/>
          <p:nvPr/>
        </p:nvSpPr>
        <p:spPr>
          <a:xfrm>
            <a:off x="462481" y="744649"/>
            <a:ext cx="224426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GB" b="1">
                <a:solidFill>
                  <a:srgbClr val="0E9B6A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Primary Task</a:t>
            </a: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/>
                <a:ea typeface="Hanken Grotesk"/>
                <a:cs typeface="Hanken Grotesk"/>
                <a:sym typeface="Hanken Grotesk"/>
              </a:rPr>
              <a:t>: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60DF53E-D04B-0296-79B0-8BD82F06DEA1}"/>
              </a:ext>
            </a:extLst>
          </p:cNvPr>
          <p:cNvSpPr/>
          <p:nvPr/>
        </p:nvSpPr>
        <p:spPr>
          <a:xfrm>
            <a:off x="9264242" y="79927"/>
            <a:ext cx="2723626" cy="6010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9F795D-5867-27D8-CA51-90B224579824}"/>
              </a:ext>
            </a:extLst>
          </p:cNvPr>
          <p:cNvSpPr txBox="1"/>
          <p:nvPr/>
        </p:nvSpPr>
        <p:spPr>
          <a:xfrm>
            <a:off x="9278423" y="46573"/>
            <a:ext cx="2244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F0502020204030204" pitchFamily="34" charset="0"/>
                <a:ea typeface="+mn-ea"/>
                <a:cs typeface="Hanken Grotesk" panose="020F0502020204030204" pitchFamily="34" charset="0"/>
                <a:sym typeface="Hanken Grotesk"/>
              </a:rPr>
              <a:t>Date Set: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131887-3989-A05B-5495-C07CAC1B5E96}"/>
              </a:ext>
            </a:extLst>
          </p:cNvPr>
          <p:cNvSpPr txBox="1"/>
          <p:nvPr/>
        </p:nvSpPr>
        <p:spPr>
          <a:xfrm>
            <a:off x="9278422" y="337609"/>
            <a:ext cx="2244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F0502020204030204" pitchFamily="34" charset="0"/>
                <a:ea typeface="+mn-ea"/>
                <a:cs typeface="Hanken Grotesk" panose="020F0502020204030204" pitchFamily="34" charset="0"/>
                <a:sym typeface="Hanken Grotesk"/>
              </a:rPr>
              <a:t>Next Review:</a:t>
            </a:r>
          </a:p>
        </p:txBody>
      </p:sp>
      <p:sp>
        <p:nvSpPr>
          <p:cNvPr id="54" name="Arrow: Curved Left 53">
            <a:extLst>
              <a:ext uri="{FF2B5EF4-FFF2-40B4-BE49-F238E27FC236}">
                <a16:creationId xmlns:a16="http://schemas.microsoft.com/office/drawing/2014/main" id="{B2EE487B-6852-F44E-510D-DDA624E4FF8A}"/>
              </a:ext>
            </a:extLst>
          </p:cNvPr>
          <p:cNvSpPr/>
          <p:nvPr/>
        </p:nvSpPr>
        <p:spPr>
          <a:xfrm flipV="1">
            <a:off x="8570418" y="8715839"/>
            <a:ext cx="268447" cy="478172"/>
          </a:xfrm>
          <a:prstGeom prst="curvedLeftArrow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55" name="Arrow: Curved Left 54">
            <a:extLst>
              <a:ext uri="{FF2B5EF4-FFF2-40B4-BE49-F238E27FC236}">
                <a16:creationId xmlns:a16="http://schemas.microsoft.com/office/drawing/2014/main" id="{C562FF39-537B-3019-5AF6-49CA8D1240AA}"/>
              </a:ext>
            </a:extLst>
          </p:cNvPr>
          <p:cNvSpPr/>
          <p:nvPr/>
        </p:nvSpPr>
        <p:spPr>
          <a:xfrm flipV="1">
            <a:off x="11522692" y="8715839"/>
            <a:ext cx="268447" cy="478172"/>
          </a:xfrm>
          <a:prstGeom prst="curvedLeftArrow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F3632F-0F7E-F4E7-5FA4-A7790435DF80}"/>
              </a:ext>
            </a:extLst>
          </p:cNvPr>
          <p:cNvSpPr/>
          <p:nvPr/>
        </p:nvSpPr>
        <p:spPr>
          <a:xfrm>
            <a:off x="11724028" y="9568206"/>
            <a:ext cx="263840" cy="28280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F7ECAA-7C71-C42A-B189-789D140FDBE2}"/>
              </a:ext>
            </a:extLst>
          </p:cNvPr>
          <p:cNvSpPr/>
          <p:nvPr/>
        </p:nvSpPr>
        <p:spPr>
          <a:xfrm>
            <a:off x="451401" y="1642397"/>
            <a:ext cx="2835612" cy="94997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731CC-2771-58D8-6EA9-65F8A8AAEFC5}"/>
              </a:ext>
            </a:extLst>
          </p:cNvPr>
          <p:cNvSpPr/>
          <p:nvPr/>
        </p:nvSpPr>
        <p:spPr>
          <a:xfrm>
            <a:off x="3349638" y="1642397"/>
            <a:ext cx="2852924" cy="94997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759796-604D-43A2-8D29-4E93B66FECB2}"/>
              </a:ext>
            </a:extLst>
          </p:cNvPr>
          <p:cNvSpPr txBox="1"/>
          <p:nvPr/>
        </p:nvSpPr>
        <p:spPr>
          <a:xfrm>
            <a:off x="399945" y="1612302"/>
            <a:ext cx="2244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F0502020204030204" pitchFamily="34" charset="0"/>
                <a:ea typeface="+mn-ea"/>
                <a:cs typeface="Hanken Grotesk" panose="020F0502020204030204" pitchFamily="34" charset="0"/>
                <a:sym typeface="Hanken Grotesk"/>
              </a:rPr>
              <a:t>In Scope: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00CF69-8EBF-E700-795C-1F25EA7BCD10}"/>
              </a:ext>
            </a:extLst>
          </p:cNvPr>
          <p:cNvSpPr txBox="1"/>
          <p:nvPr/>
        </p:nvSpPr>
        <p:spPr>
          <a:xfrm>
            <a:off x="3292597" y="1612302"/>
            <a:ext cx="2244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F0502020204030204" pitchFamily="34" charset="0"/>
                <a:ea typeface="+mn-ea"/>
                <a:cs typeface="Hanken Grotesk" panose="020F0502020204030204" pitchFamily="34" charset="0"/>
                <a:sym typeface="Hanken Grotesk"/>
              </a:rPr>
              <a:t>Out of Scope: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9CF856-52AE-E1DA-4E14-56A3C290ACEA}"/>
              </a:ext>
            </a:extLst>
          </p:cNvPr>
          <p:cNvSpPr/>
          <p:nvPr/>
        </p:nvSpPr>
        <p:spPr>
          <a:xfrm>
            <a:off x="6259602" y="1642397"/>
            <a:ext cx="2835612" cy="94997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772D0B-4C5D-59C7-92F7-9C255B8B4759}"/>
              </a:ext>
            </a:extLst>
          </p:cNvPr>
          <p:cNvSpPr/>
          <p:nvPr/>
        </p:nvSpPr>
        <p:spPr>
          <a:xfrm>
            <a:off x="9152255" y="1642397"/>
            <a:ext cx="2835612" cy="94997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95E445-2877-8302-19A1-E2241BB9B9E2}"/>
              </a:ext>
            </a:extLst>
          </p:cNvPr>
          <p:cNvSpPr txBox="1"/>
          <p:nvPr/>
        </p:nvSpPr>
        <p:spPr>
          <a:xfrm>
            <a:off x="6226686" y="1619895"/>
            <a:ext cx="2933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F0502020204030204" pitchFamily="34" charset="0"/>
                <a:ea typeface="+mn-ea"/>
                <a:cs typeface="Hanken Grotesk" panose="020F0502020204030204" pitchFamily="34" charset="0"/>
                <a:sym typeface="Hanken Grotesk"/>
              </a:rPr>
              <a:t>Characteristics of As-Is State: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B78ED8-7D72-0059-0ADD-DDEB211CB1D8}"/>
              </a:ext>
            </a:extLst>
          </p:cNvPr>
          <p:cNvSpPr txBox="1"/>
          <p:nvPr/>
        </p:nvSpPr>
        <p:spPr>
          <a:xfrm>
            <a:off x="9109024" y="1619895"/>
            <a:ext cx="308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F0502020204030204" pitchFamily="34" charset="0"/>
                <a:ea typeface="+mn-ea"/>
                <a:cs typeface="Hanken Grotesk" panose="020F0502020204030204" pitchFamily="34" charset="0"/>
                <a:sym typeface="Hanken Grotesk"/>
              </a:rPr>
              <a:t>Characteristics of To-Be State: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EFCA43-D4D8-42BD-56EE-0BE7ABE0641A}"/>
              </a:ext>
            </a:extLst>
          </p:cNvPr>
          <p:cNvSpPr txBox="1"/>
          <p:nvPr/>
        </p:nvSpPr>
        <p:spPr>
          <a:xfrm>
            <a:off x="2423193" y="2684818"/>
            <a:ext cx="276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F0502020204030204" pitchFamily="34" charset="0"/>
                <a:ea typeface="+mn-ea"/>
                <a:cs typeface="Hanken Grotesk" panose="020F0502020204030204" pitchFamily="34" charset="0"/>
                <a:sym typeface="Hanken Grotesk"/>
              </a:rPr>
              <a:t>Team Commitments: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CA0114-31EA-3D12-6C10-CACEBC170B18}"/>
              </a:ext>
            </a:extLst>
          </p:cNvPr>
          <p:cNvSpPr/>
          <p:nvPr/>
        </p:nvSpPr>
        <p:spPr>
          <a:xfrm>
            <a:off x="5218391" y="2661044"/>
            <a:ext cx="2723626" cy="364548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0CC49A-A5AD-0561-E56B-17612EF02C64}"/>
              </a:ext>
            </a:extLst>
          </p:cNvPr>
          <p:cNvSpPr txBox="1"/>
          <p:nvPr/>
        </p:nvSpPr>
        <p:spPr>
          <a:xfrm>
            <a:off x="5263014" y="2694607"/>
            <a:ext cx="276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F0502020204030204" pitchFamily="34" charset="0"/>
                <a:ea typeface="+mn-ea"/>
                <a:cs typeface="Hanken Grotesk" panose="020F0502020204030204" pitchFamily="34" charset="0"/>
                <a:sym typeface="Hanken Grotesk"/>
              </a:rPr>
              <a:t>Success Measures: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1C5589-EE79-615C-F02A-5A369F828A5F}"/>
              </a:ext>
            </a:extLst>
          </p:cNvPr>
          <p:cNvSpPr/>
          <p:nvPr/>
        </p:nvSpPr>
        <p:spPr>
          <a:xfrm>
            <a:off x="7999832" y="2661044"/>
            <a:ext cx="2723626" cy="364548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A243F9-C737-C168-C091-047CF06C6CC3}"/>
              </a:ext>
            </a:extLst>
          </p:cNvPr>
          <p:cNvSpPr txBox="1"/>
          <p:nvPr/>
        </p:nvSpPr>
        <p:spPr>
          <a:xfrm>
            <a:off x="7997447" y="2697580"/>
            <a:ext cx="276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F0502020204030204" pitchFamily="34" charset="0"/>
                <a:ea typeface="+mn-ea"/>
                <a:cs typeface="Hanken Grotesk" panose="020F0502020204030204" pitchFamily="34" charset="0"/>
                <a:sym typeface="Hanken Grotesk"/>
              </a:rPr>
              <a:t>Commitment Champions: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27AA95-4C0D-87FE-EA1E-CF2379E91219}"/>
              </a:ext>
            </a:extLst>
          </p:cNvPr>
          <p:cNvSpPr/>
          <p:nvPr/>
        </p:nvSpPr>
        <p:spPr>
          <a:xfrm>
            <a:off x="10790043" y="2661044"/>
            <a:ext cx="1197824" cy="364548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204C56"/>
              </a:solidFill>
              <a:effectLst/>
              <a:uLnTx/>
              <a:uFillTx/>
              <a:latin typeface="Hanken Grotesk"/>
              <a:ea typeface="+mn-ea"/>
              <a:cs typeface="+mn-cs"/>
              <a:sym typeface="Hanken Grotesk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B4DBE4-57FC-2591-357C-B58567447EC7}"/>
              </a:ext>
            </a:extLst>
          </p:cNvPr>
          <p:cNvSpPr txBox="1"/>
          <p:nvPr/>
        </p:nvSpPr>
        <p:spPr>
          <a:xfrm>
            <a:off x="10781273" y="2710635"/>
            <a:ext cx="1282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E9B6A"/>
                </a:solidFill>
                <a:effectLst/>
                <a:uLnTx/>
                <a:uFillTx/>
                <a:latin typeface="Hanken Grotesk" panose="020F0502020204030204" pitchFamily="34" charset="0"/>
                <a:ea typeface="+mn-ea"/>
                <a:cs typeface="Hanken Grotesk" panose="020F0502020204030204" pitchFamily="34" charset="0"/>
                <a:sym typeface="Hanken Grotesk"/>
              </a:rPr>
              <a:t>Signatures: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CA3043-B44D-1974-4E8D-0BE3D33E701B}"/>
              </a:ext>
            </a:extLst>
          </p:cNvPr>
          <p:cNvCxnSpPr>
            <a:cxnSpLocks/>
          </p:cNvCxnSpPr>
          <p:nvPr/>
        </p:nvCxnSpPr>
        <p:spPr>
          <a:xfrm>
            <a:off x="2430071" y="3054150"/>
            <a:ext cx="83002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1145CE4-4702-A3AD-9073-49CFEB585615}"/>
              </a:ext>
            </a:extLst>
          </p:cNvPr>
          <p:cNvCxnSpPr>
            <a:cxnSpLocks/>
          </p:cNvCxnSpPr>
          <p:nvPr/>
        </p:nvCxnSpPr>
        <p:spPr>
          <a:xfrm>
            <a:off x="2430071" y="3520145"/>
            <a:ext cx="83002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F59668E-3A99-8591-B853-3A5658A21C68}"/>
              </a:ext>
            </a:extLst>
          </p:cNvPr>
          <p:cNvCxnSpPr>
            <a:cxnSpLocks/>
          </p:cNvCxnSpPr>
          <p:nvPr/>
        </p:nvCxnSpPr>
        <p:spPr>
          <a:xfrm>
            <a:off x="2430071" y="3986140"/>
            <a:ext cx="83002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21518DC-58C5-B061-2AA8-821B44D9DDAB}"/>
              </a:ext>
            </a:extLst>
          </p:cNvPr>
          <p:cNvCxnSpPr>
            <a:cxnSpLocks/>
          </p:cNvCxnSpPr>
          <p:nvPr/>
        </p:nvCxnSpPr>
        <p:spPr>
          <a:xfrm>
            <a:off x="2430071" y="4452135"/>
            <a:ext cx="83002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C64F013-3B55-72DB-4562-46DB2EE70FEF}"/>
              </a:ext>
            </a:extLst>
          </p:cNvPr>
          <p:cNvCxnSpPr>
            <a:cxnSpLocks/>
          </p:cNvCxnSpPr>
          <p:nvPr/>
        </p:nvCxnSpPr>
        <p:spPr>
          <a:xfrm>
            <a:off x="2430071" y="4918130"/>
            <a:ext cx="83002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2D4F166-0EB9-20A1-226D-EBBD74ECB30A}"/>
              </a:ext>
            </a:extLst>
          </p:cNvPr>
          <p:cNvCxnSpPr>
            <a:cxnSpLocks/>
          </p:cNvCxnSpPr>
          <p:nvPr/>
        </p:nvCxnSpPr>
        <p:spPr>
          <a:xfrm>
            <a:off x="2430071" y="5384125"/>
            <a:ext cx="83002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7FC9F94-F69C-22DB-06FA-D21EF78F341E}"/>
              </a:ext>
            </a:extLst>
          </p:cNvPr>
          <p:cNvCxnSpPr>
            <a:cxnSpLocks/>
          </p:cNvCxnSpPr>
          <p:nvPr/>
        </p:nvCxnSpPr>
        <p:spPr>
          <a:xfrm>
            <a:off x="2430071" y="5850118"/>
            <a:ext cx="830026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35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4C56"/>
      </a:dk2>
      <a:lt2>
        <a:srgbClr val="E8E8E8"/>
      </a:lt2>
      <a:accent1>
        <a:srgbClr val="0E9B6A"/>
      </a:accent1>
      <a:accent2>
        <a:srgbClr val="1FC489"/>
      </a:accent2>
      <a:accent3>
        <a:srgbClr val="204C56"/>
      </a:accent3>
      <a:accent4>
        <a:srgbClr val="0E9B6A"/>
      </a:accent4>
      <a:accent5>
        <a:srgbClr val="204C56"/>
      </a:accent5>
      <a:accent6>
        <a:srgbClr val="1FC489"/>
      </a:accent6>
      <a:hlink>
        <a:srgbClr val="0E9B6A"/>
      </a:hlink>
      <a:folHlink>
        <a:srgbClr val="204C56"/>
      </a:folHlink>
    </a:clrScheme>
    <a:fontScheme name="Office">
      <a:majorFont>
        <a:latin typeface="Schibsted Grotesk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Hanken Grotesk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chibsted Grotes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Hanken Grotesk"/>
        <a:font script="Hebr" typeface="Hanken Grotesk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Hanken Grotesk"/>
        <a:font script="Uigh" typeface="Microsoft Uighur"/>
        <a:font script="Geor" typeface="Sylfaen"/>
        <a:font script="Armn" typeface="Hanken Grotesk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4C56"/>
      </a:dk2>
      <a:lt2>
        <a:srgbClr val="E8E8E8"/>
      </a:lt2>
      <a:accent1>
        <a:srgbClr val="0E9B6A"/>
      </a:accent1>
      <a:accent2>
        <a:srgbClr val="1FC489"/>
      </a:accent2>
      <a:accent3>
        <a:srgbClr val="204C56"/>
      </a:accent3>
      <a:accent4>
        <a:srgbClr val="0E9B6A"/>
      </a:accent4>
      <a:accent5>
        <a:srgbClr val="204C56"/>
      </a:accent5>
      <a:accent6>
        <a:srgbClr val="1FC489"/>
      </a:accent6>
      <a:hlink>
        <a:srgbClr val="0E9B6A"/>
      </a:hlink>
      <a:folHlink>
        <a:srgbClr val="204C56"/>
      </a:folHlink>
    </a:clrScheme>
    <a:fontScheme name="Office">
      <a:majorFont>
        <a:latin typeface="Schibsted Grotesk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Hanken Grotesk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chibsted Grotes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Hanken Grotesk"/>
        <a:font script="Hebr" typeface="Hanken Grotesk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Hanken Grotesk"/>
        <a:font script="Uigh" typeface="Microsoft Uighur"/>
        <a:font script="Geor" typeface="Sylfaen"/>
        <a:font script="Armn" typeface="Hanken Grotesk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980</Words>
  <Application>Microsoft Office PowerPoint</Application>
  <PresentationFormat>Widescreen</PresentationFormat>
  <Paragraphs>126</Paragraphs>
  <Slides>11</Slides>
  <Notes>8</Notes>
  <HiddenSlides>1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Poppins SemiBold</vt:lpstr>
      <vt:lpstr>Tahoma</vt:lpstr>
      <vt:lpstr>Office Theme</vt:lpstr>
      <vt:lpstr>think-cell Slide</vt:lpstr>
      <vt:lpstr>PowerPoint Presentation</vt:lpstr>
      <vt:lpstr>Bimzelx Patient Community Team Charter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Team WoW Commitment Map</vt:lpstr>
      <vt:lpstr>          Activity: Setting Team Goals</vt:lpstr>
      <vt:lpstr>PowerPoint Presentation</vt:lpstr>
      <vt:lpstr>Bimzelx Patient Community Team Charter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Woollard</dc:creator>
  <cp:lastModifiedBy>Ben Woollard</cp:lastModifiedBy>
  <cp:revision>1</cp:revision>
  <dcterms:created xsi:type="dcterms:W3CDTF">2026-09-22T15:37:34Z</dcterms:created>
  <dcterms:modified xsi:type="dcterms:W3CDTF">2026-09-22T15:38:41Z</dcterms:modified>
</cp:coreProperties>
</file>